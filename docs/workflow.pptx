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6858000" cy="12192000"/>
  <p:notesSz cx="7559675" cy="106914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CD10E69-68B4-4269-BF3E-5947E1E49C0A}" type="slidenum">
              <a:rPr/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342720" y="2852640"/>
            <a:ext cx="6171840" cy="707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9020673-3C56-4474-9A69-1DD2760C685E}" type="slidenum">
              <a:rPr/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342720" y="2852640"/>
            <a:ext cx="6171840" cy="707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C718579-6491-486D-8378-EAF3B4B75A10}" type="slidenum">
              <a:rPr/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342720" y="2852640"/>
            <a:ext cx="3011760" cy="707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3505320" y="2852640"/>
            <a:ext cx="3011760" cy="707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28A07A2-08D4-4237-864E-0E180E1D8520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60E654C-2CB1-4E8D-A6D3-A4815843B92E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57160" y="2352240"/>
            <a:ext cx="5142960" cy="18021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C03C225-6F2A-4D6A-B121-34A34BB88CF0}" type="slidenum">
              <a:rPr/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342720" y="285264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3505320" y="2852640"/>
            <a:ext cx="3011760" cy="707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342720" y="654588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70254C1D-457D-4218-A4A4-A45F95310F11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342720" y="2852640"/>
            <a:ext cx="3011760" cy="707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3505320" y="285264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3505320" y="654588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2650DE9-ECE3-4CB3-B9E3-26B9DD88C7F6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342720" y="285264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3505320" y="285264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342720" y="6545880"/>
            <a:ext cx="617184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FFC868C-7EE6-43EE-ACF6-C7239D54B394}" type="slidenum">
              <a:rPr/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342720" y="2852640"/>
            <a:ext cx="617184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342720" y="6545880"/>
            <a:ext cx="617184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B2DD5AC3-7120-433C-B5CB-5469C7757EDB}" type="slidenum">
              <a:rPr/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342720" y="285264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3505320" y="285264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342720" y="654588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3505320" y="6545880"/>
            <a:ext cx="301176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8B8117B-7BE2-4D31-A0DB-0033075E57EF}" type="slidenum">
              <a:rPr/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>
              <a:buNone/>
            </a:pPr>
            <a:endParaRPr lang="en-US" sz="4400" b="0" strike="noStrike" spc="-1">
              <a:latin typeface="Arial" panose="020B060402020202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342720" y="2852640"/>
            <a:ext cx="198720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2429640" y="2852640"/>
            <a:ext cx="198720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16560" y="2852640"/>
            <a:ext cx="198720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342720" y="6545880"/>
            <a:ext cx="198720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2429640" y="6545880"/>
            <a:ext cx="198720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4516560" y="6545880"/>
            <a:ext cx="1987200" cy="3372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endParaRPr lang="en-US" sz="3200" b="0" strike="noStrike" spc="-1">
              <a:latin typeface="Arial" panose="020B060402020202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3457B389-E74E-49A6-A6FD-25A2D6585FA8}" type="slidenum">
              <a:rPr/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endParaRPr 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857160" y="2352240"/>
            <a:ext cx="5142960" cy="3887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zh-CN" sz="1800" b="0" strike="noStrike" spc="-1">
                <a:latin typeface="Arial" panose="020B0604020202020204"/>
              </a:rPr>
              <a:t>单击</a:t>
            </a:r>
            <a:r>
              <a:rPr lang="zh-CN" sz="1800" b="0" strike="noStrike" spc="-1">
                <a:latin typeface="Arial" panose="020B0604020202020204"/>
              </a:rPr>
              <a:t>以编</a:t>
            </a:r>
            <a:r>
              <a:rPr lang="zh-CN" sz="1800" b="0" strike="noStrike" spc="-1">
                <a:latin typeface="Arial" panose="020B0604020202020204"/>
              </a:rPr>
              <a:t>辑标</a:t>
            </a:r>
            <a:r>
              <a:rPr lang="zh-CN" sz="1800" b="0" strike="noStrike" spc="-1">
                <a:latin typeface="Arial" panose="020B0604020202020204"/>
              </a:rPr>
              <a:t>题文</a:t>
            </a:r>
            <a:r>
              <a:rPr lang="zh-CN" sz="1800" b="0" strike="noStrike" spc="-1">
                <a:latin typeface="Arial" panose="020B0604020202020204"/>
              </a:rPr>
              <a:t>本格</a:t>
            </a:r>
            <a:r>
              <a:rPr lang="zh-CN" sz="1800" b="0" strike="noStrike" spc="-1">
                <a:latin typeface="Arial" panose="020B0604020202020204"/>
              </a:rPr>
              <a:t>式</a:t>
            </a:r>
            <a:endParaRPr lang="en-US" sz="1800" b="0" strike="noStrike" spc="-1">
              <a:latin typeface="Arial" panose="020B0604020202020204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ftr" idx="1"/>
          </p:nvPr>
        </p:nvSpPr>
        <p:spPr>
          <a:xfrm>
            <a:off x="2271960" y="11301120"/>
            <a:ext cx="2314080" cy="64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 algn="ctr">
              <a:lnSpc>
                <a:spcPct val="100000"/>
              </a:lnSpc>
              <a:buNone/>
              <a:defRPr lang="en-US" sz="1400" b="0" strike="noStrike" spc="-1">
                <a:latin typeface="Times New Roman" panose="02020603050405020304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lang="en-US" sz="1400" b="0" strike="noStrike" spc="-1">
                <a:latin typeface="Times New Roman" panose="02020603050405020304"/>
              </a:rPr>
              <a:t>&lt;页脚&gt;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sldNum" idx="2"/>
          </p:nvPr>
        </p:nvSpPr>
        <p:spPr>
          <a:xfrm>
            <a:off x="4843800" y="11301120"/>
            <a:ext cx="1542240" cy="64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lnSpc>
                <a:spcPct val="100000"/>
              </a:lnSpc>
              <a:buNone/>
              <a:defRPr lang="en-US" sz="2400" b="0" strike="noStrike" spc="-1">
                <a:latin typeface="Times New Roman" panose="02020603050405020304"/>
              </a:defRPr>
            </a:lvl1pPr>
          </a:lstStyle>
          <a:p>
            <a:pPr>
              <a:lnSpc>
                <a:spcPct val="100000"/>
              </a:lnSpc>
              <a:buNone/>
            </a:pPr>
            <a:fld id="{8B94FE39-0A8A-435F-9859-226E5B5D01B2}" type="slidenum">
              <a:rPr lang="en-US" sz="2400" b="0" strike="noStrike" spc="-1">
                <a:latin typeface="Times New Roman" panose="02020603050405020304"/>
              </a:rPr>
            </a:fld>
            <a:endParaRPr lang="en-US" sz="2400" b="0" strike="noStrike" spc="-1">
              <a:latin typeface="Times New Roman" panose="02020603050405020304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dt" idx="3"/>
          </p:nvPr>
        </p:nvSpPr>
        <p:spPr>
          <a:xfrm>
            <a:off x="471600" y="11301120"/>
            <a:ext cx="1542240" cy="648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ctr">
            <a:noAutofit/>
          </a:bodyPr>
          <a:lstStyle>
            <a:lvl1pPr>
              <a:defRPr lang="en-US" sz="1400" b="0" strike="noStrike" spc="-1">
                <a:latin typeface="Times New Roman" panose="02020603050405020304"/>
              </a:defRPr>
            </a:lvl1pPr>
          </a:lstStyle>
          <a:p>
            <a:r>
              <a:rPr lang="en-US" sz="1400" b="0" strike="noStrike" spc="-1">
                <a:latin typeface="Times New Roman" panose="02020603050405020304"/>
              </a:rPr>
              <a:t>&lt;日期/时间&gt;</a:t>
            </a:r>
            <a:endParaRPr lang="en-US" sz="1400" b="0" strike="noStrike" spc="-1">
              <a:latin typeface="Times New Roman" panose="02020603050405020304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body"/>
          </p:nvPr>
        </p:nvSpPr>
        <p:spPr>
          <a:xfrm>
            <a:off x="342720" y="2852640"/>
            <a:ext cx="6171840" cy="707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p>
            <a:pPr marL="431800" indent="-323850"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3200" b="0" strike="noStrike" spc="-1">
                <a:latin typeface="Arial" panose="020B0604020202020204"/>
              </a:rPr>
              <a:t>点击以编辑提纲文本格式</a:t>
            </a:r>
            <a:endParaRPr lang="en-US" sz="3200" b="0" strike="noStrike" spc="-1">
              <a:latin typeface="Arial" panose="020B0604020202020204"/>
            </a:endParaRPr>
          </a:p>
          <a:p>
            <a:pPr marL="864235" lvl="1" indent="-323850">
              <a:spcBef>
                <a:spcPts val="113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800" b="0" strike="noStrike" spc="-1">
                <a:latin typeface="Arial" panose="020B0604020202020204"/>
              </a:rPr>
              <a:t>第二提纲级别</a:t>
            </a:r>
            <a:endParaRPr lang="en-US" sz="2800" b="0" strike="noStrike" spc="-1">
              <a:latin typeface="Arial" panose="020B0604020202020204"/>
            </a:endParaRPr>
          </a:p>
          <a:p>
            <a:pPr marL="1296035" lvl="2" indent="-288290"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400" b="0" strike="noStrike" spc="-1">
                <a:latin typeface="Arial" panose="020B0604020202020204"/>
              </a:rPr>
              <a:t>第三提纲级别</a:t>
            </a:r>
            <a:endParaRPr lang="en-US" sz="2400" b="0" strike="noStrike" spc="-1">
              <a:latin typeface="Arial" panose="020B0604020202020204"/>
            </a:endParaRPr>
          </a:p>
          <a:p>
            <a:pPr marL="1727835" lvl="3" indent="-215900">
              <a:spcBef>
                <a:spcPts val="565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000" b="0" strike="noStrike" spc="-1">
                <a:latin typeface="Arial" panose="020B0604020202020204"/>
              </a:rPr>
              <a:t>第四提纲级别</a:t>
            </a:r>
            <a:endParaRPr lang="en-US" sz="2000" b="0" strike="noStrike" spc="-1">
              <a:latin typeface="Arial" panose="020B0604020202020204"/>
            </a:endParaRPr>
          </a:p>
          <a:p>
            <a:pPr marL="2160270" lvl="4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 panose="020B0604020202020204"/>
              </a:rPr>
              <a:t>第五提纲级别</a:t>
            </a:r>
            <a:endParaRPr lang="en-US" sz="2000" b="0" strike="noStrike" spc="-1">
              <a:latin typeface="Arial" panose="020B0604020202020204"/>
            </a:endParaRPr>
          </a:p>
          <a:p>
            <a:pPr marL="2592070" lvl="5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 panose="020B0604020202020204"/>
              </a:rPr>
              <a:t>第六提纲级别</a:t>
            </a:r>
            <a:endParaRPr lang="en-US" sz="2000" b="0" strike="noStrike" spc="-1">
              <a:latin typeface="Arial" panose="020B0604020202020204"/>
            </a:endParaRPr>
          </a:p>
          <a:p>
            <a:pPr marL="3023870" lvl="6" indent="-215900"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zh-CN" sz="2000" b="0" strike="noStrike" spc="-1">
                <a:latin typeface="Arial" panose="020B0604020202020204"/>
              </a:rPr>
              <a:t>第七提纲级别</a:t>
            </a:r>
            <a:endParaRPr lang="en-US" sz="2000" b="0" strike="noStrike" spc="-1">
              <a:latin typeface="Arial" panose="020B0604020202020204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129"/>
          <p:cNvGrpSpPr/>
          <p:nvPr/>
        </p:nvGrpSpPr>
        <p:grpSpPr>
          <a:xfrm>
            <a:off x="45000" y="49680"/>
            <a:ext cx="6890760" cy="1383480"/>
            <a:chOff x="45000" y="49680"/>
            <a:chExt cx="6890760" cy="1383480"/>
          </a:xfrm>
        </p:grpSpPr>
        <p:sp>
          <p:nvSpPr>
            <p:cNvPr id="42" name="文本框 1"/>
            <p:cNvSpPr/>
            <p:nvPr/>
          </p:nvSpPr>
          <p:spPr>
            <a:xfrm>
              <a:off x="139680" y="345960"/>
              <a:ext cx="629280" cy="6062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Taxa FASTA files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taxa1.fa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taxa2.fa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taxa3.fa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taxa4.fa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taxa5.fa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taxa6.fa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43" name="文本框 14"/>
            <p:cNvSpPr/>
            <p:nvPr/>
          </p:nvSpPr>
          <p:spPr>
            <a:xfrm>
              <a:off x="975240" y="345960"/>
              <a:ext cx="2406600" cy="59868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OrthoFinder Orthogroups.tsv (example)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Orthogroup          taxa1           taxa2           taxa3                         taxa4           taxa5           taxa6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OG0000000         sp1_g1        sp2_g1        sp3_g1                     sp4_g1         sp5_g1        sp6_g1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OG0000001         sp1_g2                            sp3_g2,sp3_g3                             sp5_g2        sp6_g2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OG0000002         sp1_g3        sp2_g2        sp3_g4                     sp4_g3         sp5_g3        sp6_g3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OG0000003         sp1_g4        sp2_g3        sp3_g5,sp3_g6        sp4_g4         sp5_g4        sp6_g4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OG0000004         sp1_g5                            sp3_g7                     sp4_g5         sp5_g5        sp6_g5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44" name="加号 15"/>
            <p:cNvSpPr/>
            <p:nvPr/>
          </p:nvSpPr>
          <p:spPr>
            <a:xfrm>
              <a:off x="812160" y="539640"/>
              <a:ext cx="142200" cy="127080"/>
            </a:xfrm>
            <a:prstGeom prst="mathPlus">
              <a:avLst>
                <a:gd name="adj1" fmla="val 2352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45" name="矩形 31"/>
            <p:cNvSpPr/>
            <p:nvPr/>
          </p:nvSpPr>
          <p:spPr>
            <a:xfrm>
              <a:off x="91440" y="84960"/>
              <a:ext cx="6678720" cy="134820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46" name="文本框 55"/>
            <p:cNvSpPr/>
            <p:nvPr/>
          </p:nvSpPr>
          <p:spPr>
            <a:xfrm>
              <a:off x="45000" y="1273680"/>
              <a:ext cx="68907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extract_orthofinder_orthogroups.py | </a:t>
              </a:r>
              <a:r>
                <a:rPr lang="en-US" sz="500" b="0" strike="noStrike" spc="-1">
                  <a:solidFill>
                    <a:srgbClr val="0F5FBD"/>
                  </a:solidFill>
                  <a:latin typeface="Calibri"/>
                  <a:ea typeface="DejaVu Sans" panose="020B0606030804020204"/>
                </a:rPr>
                <a:t>orthomcl_to_orthogroups.py | </a:t>
              </a: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 </a:t>
              </a:r>
              <a:r>
                <a:rPr lang="en-US" sz="500" b="0" strike="noStrike" spc="-1">
                  <a:solidFill>
                    <a:srgbClr val="0F5FBD"/>
                  </a:solidFill>
                  <a:latin typeface="Calibri"/>
                  <a:ea typeface="DejaVu Sans" panose="020B0606030804020204"/>
                </a:rPr>
                <a:t>oma_to_orthogroups.py |  proteinortho_to_orthogroups | sonicparanoid_to_orthogroups.py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47" name="文本框 71"/>
            <p:cNvSpPr/>
            <p:nvPr/>
          </p:nvSpPr>
          <p:spPr>
            <a:xfrm>
              <a:off x="50760" y="49680"/>
              <a:ext cx="3361680" cy="295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0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A</a:t>
              </a:r>
              <a:endParaRPr lang="en-US" sz="10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5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Extract selected single-copy or multi-copy sequence orthogroups from OrthoFinder Orthogroups.tsv</a:t>
              </a:r>
              <a:endParaRPr lang="en-US" sz="500" b="0" strike="noStrike" spc="-1">
                <a:latin typeface="Arial" panose="020B0604020202020204"/>
              </a:endParaRPr>
            </a:p>
          </p:txBody>
        </p:sp>
      </p:grpSp>
      <p:grpSp>
        <p:nvGrpSpPr>
          <p:cNvPr id="48" name="组合 29"/>
          <p:cNvGrpSpPr/>
          <p:nvPr/>
        </p:nvGrpSpPr>
        <p:grpSpPr>
          <a:xfrm>
            <a:off x="3498840" y="5460480"/>
            <a:ext cx="3274200" cy="840600"/>
            <a:chOff x="3498840" y="5460480"/>
            <a:chExt cx="3274200" cy="840600"/>
          </a:xfrm>
        </p:grpSpPr>
        <p:sp>
          <p:nvSpPr>
            <p:cNvPr id="49" name="文本框 7"/>
            <p:cNvSpPr/>
            <p:nvPr/>
          </p:nvSpPr>
          <p:spPr>
            <a:xfrm>
              <a:off x="3591000" y="5746680"/>
              <a:ext cx="1099080" cy="3835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Codon alignment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50" name="文本框 9"/>
            <p:cNvSpPr/>
            <p:nvPr/>
          </p:nvSpPr>
          <p:spPr>
            <a:xfrm>
              <a:off x="4893480" y="5746680"/>
              <a:ext cx="1794600" cy="3835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1st codon alignment</a:t>
              </a:r>
              <a:r>
                <a:rPr lang="en-US" sz="400" b="1" strike="noStrike" spc="-1">
                  <a:solidFill>
                    <a:srgbClr val="0B8A98"/>
                  </a:solidFill>
                  <a:latin typeface="Arial" panose="020B0604020202020204"/>
                  <a:ea typeface="DejaVu Sans" panose="020B0606030804020204"/>
                </a:rPr>
                <a:t>    </a:t>
              </a: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2nd codon alignment</a:t>
              </a:r>
              <a:r>
                <a:rPr lang="en-US" sz="400" b="1" strike="noStrike" spc="-1">
                  <a:solidFill>
                    <a:srgbClr val="0B8A98"/>
                  </a:solidFill>
                  <a:latin typeface="Arial" panose="020B0604020202020204"/>
                  <a:ea typeface="DejaVu Sans" panose="020B0606030804020204"/>
                </a:rPr>
                <a:t>   </a:t>
              </a: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3rd codon alignment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AGTGCA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     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TCTGCA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     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GTAATA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AGTGCA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     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TCTGCA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     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GAAAAG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AGTGCA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     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</a:t>
              </a:r>
              <a:r>
                <a:rPr lang="en-US" sz="400" b="0" strike="noStrike" spc="-1">
                  <a:solidFill>
                    <a:srgbClr val="0F5FBD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TCTGCA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     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</a:t>
              </a:r>
              <a:r>
                <a:rPr lang="en-US" sz="400" b="0" strike="noStrike" spc="-1">
                  <a:solidFill>
                    <a:srgbClr val="0B8A98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GCGACT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51" name="文本框 10"/>
            <p:cNvSpPr/>
            <p:nvPr/>
          </p:nvSpPr>
          <p:spPr>
            <a:xfrm>
              <a:off x="3498840" y="5460480"/>
              <a:ext cx="2602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0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I</a:t>
              </a:r>
              <a:endParaRPr lang="en-US" sz="10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5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One codon matrix → three position matrices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52" name="文本框 11"/>
            <p:cNvSpPr/>
            <p:nvPr/>
          </p:nvSpPr>
          <p:spPr>
            <a:xfrm>
              <a:off x="3505320" y="6132960"/>
              <a:ext cx="31629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split_codon_seqence_alignment.py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53" name="矩形 12"/>
            <p:cNvSpPr/>
            <p:nvPr/>
          </p:nvSpPr>
          <p:spPr>
            <a:xfrm>
              <a:off x="3505320" y="5495400"/>
              <a:ext cx="3267720" cy="80568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54" name="右箭头 28"/>
            <p:cNvSpPr/>
            <p:nvPr/>
          </p:nvSpPr>
          <p:spPr>
            <a:xfrm>
              <a:off x="4718160" y="590184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55" name="组合 41"/>
          <p:cNvGrpSpPr/>
          <p:nvPr/>
        </p:nvGrpSpPr>
        <p:grpSpPr>
          <a:xfrm>
            <a:off x="3497760" y="6406560"/>
            <a:ext cx="3275280" cy="846720"/>
            <a:chOff x="3497760" y="6406560"/>
            <a:chExt cx="3275280" cy="846720"/>
          </a:xfrm>
        </p:grpSpPr>
        <p:sp>
          <p:nvSpPr>
            <p:cNvPr id="56" name="文本框 42"/>
            <p:cNvSpPr/>
            <p:nvPr/>
          </p:nvSpPr>
          <p:spPr>
            <a:xfrm>
              <a:off x="3591000" y="6699240"/>
              <a:ext cx="1153800" cy="3835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Codon alignment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GCT GCA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TGG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CCT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GCC GCG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GCA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AAA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CCC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GCA GCT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GCC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CAA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CCG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57" name="文本框 43"/>
            <p:cNvSpPr/>
            <p:nvPr/>
          </p:nvSpPr>
          <p:spPr>
            <a:xfrm>
              <a:off x="5065920" y="6699240"/>
              <a:ext cx="1611000" cy="3835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Extract only third-position sites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TAGT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CGAC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ATCG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58" name="文本框 44"/>
            <p:cNvSpPr/>
            <p:nvPr/>
          </p:nvSpPr>
          <p:spPr>
            <a:xfrm>
              <a:off x="3497760" y="6406560"/>
              <a:ext cx="2602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0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J</a:t>
              </a:r>
              <a:endParaRPr lang="en-US" sz="10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5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Extract four-fold degenerate third positions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59" name="文本框 45"/>
            <p:cNvSpPr/>
            <p:nvPr/>
          </p:nvSpPr>
          <p:spPr>
            <a:xfrm>
              <a:off x="3505320" y="7085160"/>
              <a:ext cx="31629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extract_4-fold_degenerated_sites.py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60" name="矩形 46"/>
            <p:cNvSpPr/>
            <p:nvPr/>
          </p:nvSpPr>
          <p:spPr>
            <a:xfrm>
              <a:off x="3505320" y="6421680"/>
              <a:ext cx="3267720" cy="83160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61" name="右箭头 47"/>
            <p:cNvSpPr/>
            <p:nvPr/>
          </p:nvSpPr>
          <p:spPr>
            <a:xfrm>
              <a:off x="4844880" y="684216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62" name="组合 48"/>
          <p:cNvGrpSpPr/>
          <p:nvPr/>
        </p:nvGrpSpPr>
        <p:grpSpPr>
          <a:xfrm>
            <a:off x="45000" y="5224680"/>
            <a:ext cx="3274200" cy="854640"/>
            <a:chOff x="45000" y="5224680"/>
            <a:chExt cx="3274200" cy="854640"/>
          </a:xfrm>
        </p:grpSpPr>
        <p:sp>
          <p:nvSpPr>
            <p:cNvPr id="63" name="文本框 49"/>
            <p:cNvSpPr/>
            <p:nvPr/>
          </p:nvSpPr>
          <p:spPr>
            <a:xfrm>
              <a:off x="137160" y="5525280"/>
              <a:ext cx="1443960" cy="3835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Codon alignment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---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ATT TGC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NNN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GCA ATG GCG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TNG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---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ATC TGC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GCC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GCG TGG GCA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TAN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GGG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ATT TGC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NNN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GCT ATG GCC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NAG</a:t>
              </a:r>
              <a:r>
                <a:rPr lang="en-US" sz="400" b="0" strike="noStrike" spc="-1">
                  <a:solidFill>
                    <a:srgbClr val="000000"/>
                  </a:solidFill>
                  <a:latin typeface="Courier New" panose="02070309020205020404"/>
                  <a:ea typeface="DejaVu Sans" panose="020B0606030804020204"/>
                </a:rPr>
                <a:t> 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64" name="文本框 50"/>
            <p:cNvSpPr/>
            <p:nvPr/>
          </p:nvSpPr>
          <p:spPr>
            <a:xfrm>
              <a:off x="1830600" y="5529600"/>
              <a:ext cx="1435680" cy="3835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Trimmed codon alignment 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---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ATT TGC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NNN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GCA ATG GCG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TNG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---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ATC TGC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GCC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GCG TGG GCA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TAN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GGG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ATT TGC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NNN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GCT ATG GCC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NAG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65" name="文本框 51"/>
            <p:cNvSpPr/>
            <p:nvPr/>
          </p:nvSpPr>
          <p:spPr>
            <a:xfrm>
              <a:off x="45000" y="5233680"/>
              <a:ext cx="2602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0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D</a:t>
              </a:r>
              <a:endParaRPr lang="en-US" sz="10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5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Trim poorly aligned columns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66" name="文本框 52"/>
            <p:cNvSpPr/>
            <p:nvPr/>
          </p:nvSpPr>
          <p:spPr>
            <a:xfrm>
              <a:off x="51480" y="5911200"/>
              <a:ext cx="31629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trimAlnSeq.py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67" name="矩形 53"/>
            <p:cNvSpPr/>
            <p:nvPr/>
          </p:nvSpPr>
          <p:spPr>
            <a:xfrm>
              <a:off x="51480" y="5224680"/>
              <a:ext cx="3267720" cy="85464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68" name="右箭头 54"/>
            <p:cNvSpPr/>
            <p:nvPr/>
          </p:nvSpPr>
          <p:spPr>
            <a:xfrm>
              <a:off x="1654920" y="570672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69" name="组合 174"/>
          <p:cNvGrpSpPr/>
          <p:nvPr/>
        </p:nvGrpSpPr>
        <p:grpSpPr>
          <a:xfrm>
            <a:off x="3472200" y="7381080"/>
            <a:ext cx="3300840" cy="1240920"/>
            <a:chOff x="3472200" y="7381080"/>
            <a:chExt cx="3300840" cy="1240920"/>
          </a:xfrm>
        </p:grpSpPr>
        <p:grpSp>
          <p:nvGrpSpPr>
            <p:cNvPr id="70" name="组合 76"/>
            <p:cNvGrpSpPr/>
            <p:nvPr/>
          </p:nvGrpSpPr>
          <p:grpSpPr>
            <a:xfrm>
              <a:off x="3472200" y="7381080"/>
              <a:ext cx="3300840" cy="1240920"/>
              <a:chOff x="3472200" y="7381080"/>
              <a:chExt cx="3300840" cy="1240920"/>
            </a:xfrm>
          </p:grpSpPr>
          <p:sp>
            <p:nvSpPr>
              <p:cNvPr id="71" name="文本框 77"/>
              <p:cNvSpPr/>
              <p:nvPr/>
            </p:nvSpPr>
            <p:spPr>
              <a:xfrm>
                <a:off x="3571920" y="7681680"/>
                <a:ext cx="1039320" cy="45720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Codon alignment of FASTA format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&gt;Seq1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GCTGCAATGGCGTGGCCT 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&gt;Seq2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GCCGCGTGGGCAAAACCC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</p:txBody>
          </p:sp>
          <p:sp>
            <p:nvSpPr>
              <p:cNvPr id="72" name="文本框 79"/>
              <p:cNvSpPr/>
              <p:nvPr/>
            </p:nvSpPr>
            <p:spPr>
              <a:xfrm>
                <a:off x="3472200" y="7381080"/>
                <a:ext cx="2602800" cy="31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lang="en-US" sz="10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K</a:t>
                </a:r>
                <a:endParaRPr lang="en-US" sz="1000" b="0" strike="noStrike" spc="-1">
                  <a:latin typeface="Arial" panose="020B0604020202020204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Convert a FASTA alignment to AXT, PHYLIP, and NEXUS format alignment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73" name="文本框 80"/>
              <p:cNvSpPr/>
              <p:nvPr/>
            </p:nvSpPr>
            <p:spPr>
              <a:xfrm>
                <a:off x="3529440" y="8262720"/>
                <a:ext cx="653400" cy="3207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lang="en-US" sz="500" b="0" strike="noStrike" spc="-1">
                    <a:solidFill>
                      <a:srgbClr val="0F5FBD"/>
                    </a:solidFill>
                    <a:latin typeface="Arial" panose="020B0604020202020204"/>
                    <a:ea typeface="DejaVu Sans" panose="020B0606030804020204"/>
                  </a:rPr>
                  <a:t>fasta2axt.py</a:t>
                </a:r>
                <a:endParaRPr lang="en-US" sz="500" b="0" strike="noStrike" spc="-1">
                  <a:latin typeface="Arial" panose="020B0604020202020204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sz="500" b="0" strike="noStrike" spc="-1">
                    <a:solidFill>
                      <a:srgbClr val="0F5FBD"/>
                    </a:solidFill>
                    <a:latin typeface="Arial" panose="020B0604020202020204"/>
                    <a:ea typeface="DejaVu Sans" panose="020B0606030804020204"/>
                  </a:rPr>
                  <a:t>fasta2phy.py</a:t>
                </a:r>
                <a:endParaRPr lang="en-US" sz="500" b="0" strike="noStrike" spc="-1">
                  <a:latin typeface="Arial" panose="020B0604020202020204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sz="500" b="0" strike="noStrike" spc="-1">
                    <a:solidFill>
                      <a:srgbClr val="0F5FBD"/>
                    </a:solidFill>
                    <a:latin typeface="Arial" panose="020B0604020202020204"/>
                    <a:ea typeface="DejaVu Sans" panose="020B0606030804020204"/>
                  </a:rPr>
                  <a:t>fasta2nex.py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74" name="矩形 81"/>
              <p:cNvSpPr/>
              <p:nvPr/>
            </p:nvSpPr>
            <p:spPr>
              <a:xfrm>
                <a:off x="3505320" y="7389000"/>
                <a:ext cx="3267720" cy="1233000"/>
              </a:xfrm>
              <a:prstGeom prst="rect">
                <a:avLst/>
              </a:prstGeom>
              <a:noFill/>
              <a:ln w="6350">
                <a:solidFill>
                  <a:srgbClr val="D9D9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/>
            </p:style>
          </p:sp>
        </p:grpSp>
        <p:grpSp>
          <p:nvGrpSpPr>
            <p:cNvPr id="75" name="组合 173"/>
            <p:cNvGrpSpPr/>
            <p:nvPr/>
          </p:nvGrpSpPr>
          <p:grpSpPr>
            <a:xfrm>
              <a:off x="4591800" y="7681680"/>
              <a:ext cx="2129040" cy="879120"/>
              <a:chOff x="4591800" y="7681680"/>
              <a:chExt cx="2129040" cy="879120"/>
            </a:xfrm>
          </p:grpSpPr>
          <p:sp>
            <p:nvSpPr>
              <p:cNvPr id="76" name="文本框 83"/>
              <p:cNvSpPr/>
              <p:nvPr/>
            </p:nvSpPr>
            <p:spPr>
              <a:xfrm>
                <a:off x="5682600" y="7681680"/>
                <a:ext cx="1038240" cy="87876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Codon alignment of NEXUS format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#NEXUS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begin data;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dimensions ntax=2 nchar=18;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format datatype=dna missing=? gap=-;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matrix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 GCTGCAATGGCGTGGCCT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 GCCGCGTGGGCAAAACCC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;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end;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</p:txBody>
          </p:sp>
          <p:sp>
            <p:nvSpPr>
              <p:cNvPr id="77" name="文本框 84"/>
              <p:cNvSpPr/>
              <p:nvPr/>
            </p:nvSpPr>
            <p:spPr>
              <a:xfrm>
                <a:off x="4591800" y="8183160"/>
                <a:ext cx="1048320" cy="37764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Codon alignment of PHYLIP format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2 18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  GCTGCAATGGCGTGGCCT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  GCCGCGTGGGCAAAACCC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</p:txBody>
          </p:sp>
          <p:sp>
            <p:nvSpPr>
              <p:cNvPr id="78" name="文本框 85"/>
              <p:cNvSpPr/>
              <p:nvPr/>
            </p:nvSpPr>
            <p:spPr>
              <a:xfrm>
                <a:off x="4654080" y="7681680"/>
                <a:ext cx="986040" cy="45900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Codon alignment of AXT format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&gt;Seq1|Seq2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GCTGCAATGGCGTGGCCT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GCCGCGTGGGCAAAACCC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</p:txBody>
          </p:sp>
        </p:grpSp>
      </p:grpSp>
      <p:grpSp>
        <p:nvGrpSpPr>
          <p:cNvPr id="79" name="组合 172"/>
          <p:cNvGrpSpPr/>
          <p:nvPr/>
        </p:nvGrpSpPr>
        <p:grpSpPr>
          <a:xfrm>
            <a:off x="3500640" y="8712360"/>
            <a:ext cx="3272400" cy="842400"/>
            <a:chOff x="3500640" y="8712360"/>
            <a:chExt cx="3272400" cy="842400"/>
          </a:xfrm>
        </p:grpSpPr>
        <p:grpSp>
          <p:nvGrpSpPr>
            <p:cNvPr id="80" name="组合 86"/>
            <p:cNvGrpSpPr/>
            <p:nvPr/>
          </p:nvGrpSpPr>
          <p:grpSpPr>
            <a:xfrm>
              <a:off x="3500640" y="8712360"/>
              <a:ext cx="3272400" cy="842400"/>
              <a:chOff x="3500640" y="8712360"/>
              <a:chExt cx="3272400" cy="842400"/>
            </a:xfrm>
          </p:grpSpPr>
          <p:sp>
            <p:nvSpPr>
              <p:cNvPr id="81" name="文本框 87"/>
              <p:cNvSpPr/>
              <p:nvPr/>
            </p:nvSpPr>
            <p:spPr>
              <a:xfrm>
                <a:off x="3591000" y="9013680"/>
                <a:ext cx="1545480" cy="38354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Multiple results from codon alignment of two sequences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 pitchFamily="34" charset="0"/>
                    <a:ea typeface="DejaVu Sans" panose="020B0606030804020204"/>
                    <a:cs typeface="Arial" panose="020B0604020202020204" pitchFamily="34" charset="0"/>
                  </a:rPr>
                  <a:t>codon1.fasta</a:t>
                </a:r>
                <a:endParaRPr lang="en-US" sz="400" b="0" strike="noStrike" spc="-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 pitchFamily="34" charset="0"/>
                    <a:ea typeface="DejaVu Sans" panose="020B0606030804020204"/>
                    <a:cs typeface="Arial" panose="020B0604020202020204" pitchFamily="34" charset="0"/>
                  </a:rPr>
                  <a:t>codon2.fasta</a:t>
                </a:r>
                <a:endParaRPr lang="en-US" sz="400" b="0" strike="noStrike" spc="-1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 pitchFamily="34" charset="0"/>
                    <a:ea typeface="DejaVu Sans" panose="020B0606030804020204"/>
                    <a:cs typeface="Arial" panose="020B0604020202020204" pitchFamily="34" charset="0"/>
                  </a:rPr>
                  <a:t>codon3.fasta</a:t>
                </a:r>
                <a:endParaRPr lang="en-US" sz="400" b="0" strike="noStrike" spc="-1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2" name="文本框 88"/>
              <p:cNvSpPr/>
              <p:nvPr/>
            </p:nvSpPr>
            <p:spPr>
              <a:xfrm>
                <a:off x="3500640" y="8712360"/>
                <a:ext cx="2602800" cy="31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lang="en-US" sz="10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L</a:t>
                </a:r>
                <a:endParaRPr lang="en-US" sz="1000" b="0" strike="noStrike" spc="-1">
                  <a:latin typeface="Arial" panose="020B0604020202020204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Calculate raw and HKY-corrected 4DTV from codon FASTA alignments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83" name="矩形 90"/>
              <p:cNvSpPr/>
              <p:nvPr/>
            </p:nvSpPr>
            <p:spPr>
              <a:xfrm>
                <a:off x="3505320" y="8735040"/>
                <a:ext cx="3267720" cy="819720"/>
              </a:xfrm>
              <a:prstGeom prst="rect">
                <a:avLst/>
              </a:prstGeom>
              <a:noFill/>
              <a:ln w="6350">
                <a:solidFill>
                  <a:srgbClr val="D9D9D9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/>
            </p:style>
          </p:sp>
        </p:grpSp>
        <p:sp>
          <p:nvSpPr>
            <p:cNvPr id="84" name="文本框 166"/>
            <p:cNvSpPr/>
            <p:nvPr/>
          </p:nvSpPr>
          <p:spPr>
            <a:xfrm>
              <a:off x="5310360" y="9013680"/>
              <a:ext cx="1410120" cy="38520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Name       Seq1   Seq2   Raw_4dtv   Corrected_4dtv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codon1  S1   S2    XX       XX 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codon2  S1   S2    XX       XX 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codon3  S1   S2    XX       XX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85" name="右箭头 167"/>
            <p:cNvSpPr/>
            <p:nvPr/>
          </p:nvSpPr>
          <p:spPr>
            <a:xfrm>
              <a:off x="5188680" y="9169560"/>
              <a:ext cx="90720" cy="75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86" name="文本框 169"/>
            <p:cNvSpPr/>
            <p:nvPr/>
          </p:nvSpPr>
          <p:spPr>
            <a:xfrm>
              <a:off x="3500640" y="9399960"/>
              <a:ext cx="31629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calulate_4dtv_and_correction.py</a:t>
              </a:r>
              <a:endParaRPr lang="en-US" sz="500" b="0" strike="noStrike" spc="-1">
                <a:latin typeface="Arial" panose="020B0604020202020204"/>
              </a:endParaRPr>
            </a:p>
          </p:txBody>
        </p:sp>
      </p:grpSp>
      <p:grpSp>
        <p:nvGrpSpPr>
          <p:cNvPr id="87" name="组合 131"/>
          <p:cNvGrpSpPr/>
          <p:nvPr/>
        </p:nvGrpSpPr>
        <p:grpSpPr>
          <a:xfrm>
            <a:off x="3498840" y="3601080"/>
            <a:ext cx="3274200" cy="1794960"/>
            <a:chOff x="3498840" y="3601080"/>
            <a:chExt cx="3274200" cy="1794960"/>
          </a:xfrm>
        </p:grpSpPr>
        <p:grpSp>
          <p:nvGrpSpPr>
            <p:cNvPr id="88" name="组合 74"/>
            <p:cNvGrpSpPr/>
            <p:nvPr/>
          </p:nvGrpSpPr>
          <p:grpSpPr>
            <a:xfrm>
              <a:off x="3498840" y="3601080"/>
              <a:ext cx="3224520" cy="1779480"/>
              <a:chOff x="3498840" y="3601080"/>
              <a:chExt cx="3224520" cy="1779480"/>
            </a:xfrm>
          </p:grpSpPr>
          <p:sp>
            <p:nvSpPr>
              <p:cNvPr id="89" name="文本框 32"/>
              <p:cNvSpPr/>
              <p:nvPr/>
            </p:nvSpPr>
            <p:spPr>
              <a:xfrm>
                <a:off x="3591720" y="3895560"/>
                <a:ext cx="3131640" cy="38354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Gene1 codon alignment</a:t>
                </a:r>
                <a:r>
                  <a:rPr lang="en-US" sz="400" b="1" strike="noStrike" spc="-1">
                    <a:solidFill>
                      <a:srgbClr val="0B8A98"/>
                    </a:solidFill>
                    <a:latin typeface="Arial" panose="020B0604020202020204"/>
                    <a:ea typeface="DejaVu Sans" panose="020B0606030804020204"/>
                  </a:rPr>
                  <a:t>           </a:t>
                </a: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Gene2 codon alignment</a:t>
                </a:r>
                <a:r>
                  <a:rPr lang="en-US" sz="400" b="1" strike="noStrike" spc="-1">
                    <a:solidFill>
                      <a:srgbClr val="0B8A98"/>
                    </a:solidFill>
                    <a:latin typeface="Arial" panose="020B0604020202020204"/>
                    <a:ea typeface="DejaVu Sans" panose="020B0606030804020204"/>
                  </a:rPr>
                  <a:t>           </a:t>
                </a: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Gene3 codon alignment</a:t>
                </a:r>
                <a:r>
                  <a:rPr lang="en-US" sz="400" b="1" strike="noStrike" spc="-1">
                    <a:solidFill>
                      <a:srgbClr val="0B8A98"/>
                    </a:solidFill>
                    <a:latin typeface="Arial" panose="020B0604020202020204"/>
                    <a:ea typeface="DejaVu Sans" panose="020B0606030804020204"/>
                  </a:rPr>
                  <a:t>            </a:t>
                </a: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Gene4 codon alignment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--- TGC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CCT AAA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--- GGC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GCT GCA GGC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AAA TGC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CCA AAA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GGT GCC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GCA GCT GCC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Seq3: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AAA TGC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Seq3: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CCA AAA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Seq3: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GGT GCC 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Courier New" panose="02070309020205020404"/>
                    <a:ea typeface="DejaVu Sans" panose="020B0606030804020204"/>
                  </a:rPr>
                  <a:t>   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Courier New" panose="02070309020205020404"/>
                    <a:ea typeface="DejaVu Sans" panose="020B0606030804020204"/>
                  </a:rPr>
                  <a:t> </a:t>
                </a:r>
                <a:endParaRPr lang="en-US" sz="400" b="0" strike="noStrike" spc="-1">
                  <a:latin typeface="Arial" panose="020B0604020202020204"/>
                </a:endParaRPr>
              </a:p>
            </p:txBody>
          </p:sp>
          <p:sp>
            <p:nvSpPr>
              <p:cNvPr id="90" name="文本框 33"/>
              <p:cNvSpPr/>
              <p:nvPr/>
            </p:nvSpPr>
            <p:spPr>
              <a:xfrm>
                <a:off x="3498840" y="3601080"/>
                <a:ext cx="2602800" cy="31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lang="en-US" sz="10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H</a:t>
                </a:r>
                <a:endParaRPr lang="en-US" sz="1000" b="0" strike="noStrike" spc="-1">
                  <a:latin typeface="Arial" panose="020B0604020202020204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Concatenate genes into a supermatrix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91" name="文本框 34"/>
              <p:cNvSpPr/>
              <p:nvPr/>
            </p:nvSpPr>
            <p:spPr>
              <a:xfrm>
                <a:off x="3557880" y="4963680"/>
                <a:ext cx="3162960" cy="152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77040" rIns="90000" bIns="7704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lang="en-US" sz="5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get_supergenes.py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92" name="右箭头 39"/>
              <p:cNvSpPr/>
              <p:nvPr/>
            </p:nvSpPr>
            <p:spPr>
              <a:xfrm rot="5400000">
                <a:off x="4962960" y="4312080"/>
                <a:ext cx="88920" cy="7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93" name="文本框 72"/>
              <p:cNvSpPr/>
              <p:nvPr/>
            </p:nvSpPr>
            <p:spPr>
              <a:xfrm>
                <a:off x="3516120" y="5227920"/>
                <a:ext cx="3162960" cy="152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77040" rIns="90000" bIns="7704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lang="en-US" sz="500" b="0" strike="noStrike" spc="-1">
                    <a:solidFill>
                      <a:srgbClr val="0F5FBD"/>
                    </a:solidFill>
                    <a:latin typeface="Arial" panose="020B0604020202020204"/>
                    <a:ea typeface="DejaVu Sans" panose="020B0606030804020204"/>
                  </a:rPr>
                  <a:t>get_supergenes.py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94" name="文本框 37"/>
              <p:cNvSpPr/>
              <p:nvPr/>
            </p:nvSpPr>
            <p:spPr>
              <a:xfrm>
                <a:off x="3591720" y="4409280"/>
                <a:ext cx="3131280" cy="81720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no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Supermatrix codon alignment by skip-gene model        Supermatrix codon alignment by pad-gaps model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--- TGC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CCT AAA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--- GGC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--- TGC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CCT AAA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--- GGC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GCT GCA GGC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AAA TGC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CCA AAA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GGT GCC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AAA TGC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CCA AAA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GGT GCC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GCA GCT GCC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Seq3: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AAA TGC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CCA AAA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GGT GCC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Seq3: </a:t>
                </a:r>
                <a:r>
                  <a:rPr lang="en-US" sz="400" b="0" strike="noStrike" spc="-1">
                    <a:solidFill>
                      <a:srgbClr val="E68822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ATG AAA TGC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F5FBD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GGA CCA AAA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 </a:t>
                </a:r>
                <a:r>
                  <a:rPr lang="en-US" sz="400" b="0" strike="noStrike" spc="-1">
                    <a:solidFill>
                      <a:srgbClr val="0B8A98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TTA GGT GCC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--- --- ---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Partition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                                                                             </a:t>
                </a: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Partition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Gene1: 1-9                                                                            Gene1: 1-9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Gene2: 10-18                                                                        Gene2: 10-18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Gene3: 19-27                                                                        Gene3: 19-27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                                                                                              </a:t>
                </a: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Gene4: 28-36</a:t>
                </a:r>
                <a:endParaRPr lang="en-US" sz="400" b="0" strike="noStrike" spc="-1">
                  <a:latin typeface="Arial" panose="020B0604020202020204"/>
                </a:endParaRPr>
              </a:p>
            </p:txBody>
          </p:sp>
        </p:grpSp>
        <p:sp>
          <p:nvSpPr>
            <p:cNvPr id="95" name="矩形 175"/>
            <p:cNvSpPr/>
            <p:nvPr/>
          </p:nvSpPr>
          <p:spPr>
            <a:xfrm>
              <a:off x="3505320" y="3620160"/>
              <a:ext cx="3267720" cy="177588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96" name="组合 247"/>
          <p:cNvGrpSpPr/>
          <p:nvPr/>
        </p:nvGrpSpPr>
        <p:grpSpPr>
          <a:xfrm>
            <a:off x="45000" y="6278400"/>
            <a:ext cx="3274200" cy="827640"/>
            <a:chOff x="45000" y="6278400"/>
            <a:chExt cx="3274200" cy="827640"/>
          </a:xfrm>
        </p:grpSpPr>
        <p:sp>
          <p:nvSpPr>
            <p:cNvPr id="97" name="文本框 223"/>
            <p:cNvSpPr/>
            <p:nvPr/>
          </p:nvSpPr>
          <p:spPr>
            <a:xfrm>
              <a:off x="138960" y="6568920"/>
              <a:ext cx="1475640" cy="3835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Supermatrix codon alignment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---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TGC GGA CCT AAA TTA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NNN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---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TGC GGA CCA AAA TTA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NNN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GCC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ATG AAA TGC GGA CCA AAA TTA GGT GCC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98" name="文本框 224"/>
            <p:cNvSpPr/>
            <p:nvPr/>
          </p:nvSpPr>
          <p:spPr>
            <a:xfrm>
              <a:off x="1830600" y="6568920"/>
              <a:ext cx="1436400" cy="3835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Supermatrix codon alignment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---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TGC GGA CCT AAA TTA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NNN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ATG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---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TGC GGA CCA AAA TTA </a:t>
              </a: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NNN</a:t>
              </a: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 GCC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E68822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ATG AAA TGC GGA CCA AAA TTA GGT GCC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99" name="右箭头 226"/>
            <p:cNvSpPr/>
            <p:nvPr/>
          </p:nvSpPr>
          <p:spPr>
            <a:xfrm>
              <a:off x="1654920" y="67240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00" name="文本框 227"/>
            <p:cNvSpPr/>
            <p:nvPr/>
          </p:nvSpPr>
          <p:spPr>
            <a:xfrm>
              <a:off x="45000" y="6278400"/>
              <a:ext cx="2602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0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E</a:t>
              </a:r>
              <a:endParaRPr lang="en-US" sz="10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5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Filter complete FASTA sequences (taxa) by quality and taxon lists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101" name="矩形 229"/>
            <p:cNvSpPr/>
            <p:nvPr/>
          </p:nvSpPr>
          <p:spPr>
            <a:xfrm>
              <a:off x="51480" y="6308640"/>
              <a:ext cx="3267720" cy="79740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02" name="文本框 230"/>
            <p:cNvSpPr/>
            <p:nvPr/>
          </p:nvSpPr>
          <p:spPr>
            <a:xfrm>
              <a:off x="51480" y="6938640"/>
              <a:ext cx="31629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filter_sequences.py</a:t>
              </a:r>
              <a:endParaRPr lang="en-US" sz="500" b="0" strike="noStrike" spc="-1">
                <a:latin typeface="Arial" panose="020B0604020202020204"/>
              </a:endParaRPr>
            </a:p>
          </p:txBody>
        </p:sp>
      </p:grpSp>
      <p:grpSp>
        <p:nvGrpSpPr>
          <p:cNvPr id="103" name="组合 248"/>
          <p:cNvGrpSpPr/>
          <p:nvPr/>
        </p:nvGrpSpPr>
        <p:grpSpPr>
          <a:xfrm>
            <a:off x="45000" y="7305120"/>
            <a:ext cx="3290760" cy="1003320"/>
            <a:chOff x="45000" y="7305120"/>
            <a:chExt cx="3290760" cy="1003320"/>
          </a:xfrm>
        </p:grpSpPr>
        <p:sp>
          <p:nvSpPr>
            <p:cNvPr id="104" name="文本框 235"/>
            <p:cNvSpPr/>
            <p:nvPr/>
          </p:nvSpPr>
          <p:spPr>
            <a:xfrm>
              <a:off x="45000" y="7305120"/>
              <a:ext cx="2602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0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F</a:t>
              </a:r>
              <a:endParaRPr lang="en-US" sz="10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5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Check FASTA alignment matrices and write pass/fail QC reports.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105" name="矩形 236"/>
            <p:cNvSpPr/>
            <p:nvPr/>
          </p:nvSpPr>
          <p:spPr>
            <a:xfrm>
              <a:off x="68040" y="7338240"/>
              <a:ext cx="3267720" cy="97020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06" name="文本框 237"/>
            <p:cNvSpPr/>
            <p:nvPr/>
          </p:nvSpPr>
          <p:spPr>
            <a:xfrm>
              <a:off x="71640" y="8141400"/>
              <a:ext cx="31629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alignment_qc.py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107" name="文本框 239"/>
            <p:cNvSpPr/>
            <p:nvPr/>
          </p:nvSpPr>
          <p:spPr>
            <a:xfrm>
              <a:off x="1299960" y="7607880"/>
              <a:ext cx="905400" cy="52596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Quality control indicators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 length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N-ratio, X-raito, Gap-raito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Parsimony-informative-sites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Terminal-stop codon 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Internal-stop codon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08" name="文本框 241"/>
            <p:cNvSpPr/>
            <p:nvPr/>
          </p:nvSpPr>
          <p:spPr>
            <a:xfrm>
              <a:off x="143640" y="7607880"/>
              <a:ext cx="867960" cy="52596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Multiple alignment matrix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Matrix1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Matrix2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Matrix3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Matrix4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Matrix5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09" name="文本框 242"/>
            <p:cNvSpPr/>
            <p:nvPr/>
          </p:nvSpPr>
          <p:spPr>
            <a:xfrm>
              <a:off x="2493720" y="7607160"/>
              <a:ext cx="774000" cy="53280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Pass list    Fail list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Matrix1      Matrix2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Matrix4      Matrix3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Matrix5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10" name="右箭头 244"/>
            <p:cNvSpPr/>
            <p:nvPr/>
          </p:nvSpPr>
          <p:spPr>
            <a:xfrm>
              <a:off x="1078200" y="78364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11" name="右箭头 245"/>
            <p:cNvSpPr/>
            <p:nvPr/>
          </p:nvSpPr>
          <p:spPr>
            <a:xfrm>
              <a:off x="2302560" y="78364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112" name="组合 260"/>
          <p:cNvGrpSpPr/>
          <p:nvPr/>
        </p:nvGrpSpPr>
        <p:grpSpPr>
          <a:xfrm>
            <a:off x="45000" y="8507880"/>
            <a:ext cx="3276720" cy="1044720"/>
            <a:chOff x="45000" y="8507880"/>
            <a:chExt cx="3276720" cy="1044720"/>
          </a:xfrm>
        </p:grpSpPr>
        <p:sp>
          <p:nvSpPr>
            <p:cNvPr id="113" name="文本框 250"/>
            <p:cNvSpPr/>
            <p:nvPr/>
          </p:nvSpPr>
          <p:spPr>
            <a:xfrm>
              <a:off x="141480" y="8809200"/>
              <a:ext cx="912240" cy="6045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Supermatrix codon alignment</a:t>
              </a:r>
              <a:endParaRPr lang="en-US" sz="400" b="0" strike="noStrike" spc="-1">
                <a:latin typeface="Courier New" panose="020703090202050204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Seq1: ATG GCT TGC GGA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Seq2: ATG GCC TGC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Seq3: ATG GCT TGC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Seq6: ATG GCG TGC GGA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Seq5: ATG GCT TGC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Seq6: ATG GCA TGC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114" name="右箭头 252"/>
            <p:cNvSpPr/>
            <p:nvPr/>
          </p:nvSpPr>
          <p:spPr>
            <a:xfrm>
              <a:off x="2133720" y="905832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15" name="文本框 253"/>
            <p:cNvSpPr/>
            <p:nvPr/>
          </p:nvSpPr>
          <p:spPr>
            <a:xfrm>
              <a:off x="45000" y="8507880"/>
              <a:ext cx="2602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0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G</a:t>
              </a:r>
              <a:endParaRPr lang="en-US" sz="1000" b="0" strike="noStrike" spc="-1">
                <a:latin typeface="Courier New" panose="020703090202050204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5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Rename FASTA sequence IDs for phylogenetic software</a:t>
              </a:r>
              <a:endParaRPr lang="en-US" sz="500" b="0" strike="noStrike" spc="-1">
                <a:latin typeface="Courier New" panose="02070309020205020404"/>
              </a:endParaRPr>
            </a:p>
          </p:txBody>
        </p:sp>
        <p:sp>
          <p:nvSpPr>
            <p:cNvPr id="116" name="矩形 254"/>
            <p:cNvSpPr/>
            <p:nvPr/>
          </p:nvSpPr>
          <p:spPr>
            <a:xfrm>
              <a:off x="54000" y="8512200"/>
              <a:ext cx="3267720" cy="103104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17" name="文本框 255"/>
            <p:cNvSpPr/>
            <p:nvPr/>
          </p:nvSpPr>
          <p:spPr>
            <a:xfrm>
              <a:off x="57240" y="9399960"/>
              <a:ext cx="31629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rename_taxa.py</a:t>
              </a:r>
              <a:endParaRPr lang="en-US" sz="500" b="0" strike="noStrike" spc="-1">
                <a:latin typeface="Courier New" panose="02070309020205020404"/>
              </a:endParaRPr>
            </a:p>
          </p:txBody>
        </p:sp>
        <p:sp>
          <p:nvSpPr>
            <p:cNvPr id="118" name="文本框 256"/>
            <p:cNvSpPr/>
            <p:nvPr/>
          </p:nvSpPr>
          <p:spPr>
            <a:xfrm>
              <a:off x="2292840" y="8809200"/>
              <a:ext cx="947880" cy="6045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Supermatrix codon alignment</a:t>
              </a:r>
              <a:endParaRPr lang="en-US" sz="400" b="0" strike="noStrike" spc="-1">
                <a:latin typeface="Courier New" panose="020703090202050204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Species1: ATG GCT TGC GGA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Species2: ATG GCC TGC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Species3: ATG GCT TGC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Species4: ATG GCG TGC GGA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Species5: ATG GCT TGC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Liberation Mono" panose="02070409020205020404" charset="0"/>
                  <a:ea typeface="DejaVu Sans" panose="020B0606030804020204"/>
                  <a:cs typeface="Liberation Mono" panose="02070409020205020404" charset="0"/>
                </a:rPr>
                <a:t>Species6: ATG GCA TGC GGC</a:t>
              </a:r>
              <a:endParaRPr lang="en-US" sz="400" b="0" strike="noStrike" spc="-1">
                <a:latin typeface="Liberation Mono" panose="02070409020205020404" charset="0"/>
                <a:cs typeface="Liberation Mono" panose="02070409020205020404" charset="0"/>
              </a:endParaRPr>
            </a:p>
          </p:txBody>
        </p:sp>
        <p:sp>
          <p:nvSpPr>
            <p:cNvPr id="119" name="文本框 257"/>
            <p:cNvSpPr/>
            <p:nvPr/>
          </p:nvSpPr>
          <p:spPr>
            <a:xfrm>
              <a:off x="1219680" y="8809200"/>
              <a:ext cx="913680" cy="59868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20000"/>
                </a:lnSpc>
                <a:buNone/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Two-column ID mapping table</a:t>
              </a:r>
              <a:endParaRPr lang="en-US" sz="400" b="0" strike="noStrike" spc="-1">
                <a:latin typeface="Courier New" panose="020703090202050204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Ubuntu Mono" panose="020B0509030602030204"/>
                  <a:ea typeface="DejaVu Sans" panose="020B0606030804020204"/>
                </a:rPr>
                <a:t>Seq1 Species1</a:t>
              </a:r>
              <a:endParaRPr lang="en-US" sz="400" b="0" strike="noStrike" spc="-1">
                <a:latin typeface="Courier New" panose="020703090202050204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Ubuntu Mono" panose="020B0509030602030204"/>
                  <a:ea typeface="DejaVu Sans" panose="020B0606030804020204"/>
                </a:rPr>
                <a:t>Seq2 Species2</a:t>
              </a:r>
              <a:endParaRPr lang="en-US" sz="400" b="0" strike="noStrike" spc="-1">
                <a:latin typeface="Courier New" panose="020703090202050204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Ubuntu Mono" panose="020B0509030602030204"/>
                  <a:ea typeface="DejaVu Sans" panose="020B0606030804020204"/>
                </a:rPr>
                <a:t>Seq3 Species3</a:t>
              </a:r>
              <a:endParaRPr lang="en-US" sz="400" b="0" strike="noStrike" spc="-1">
                <a:latin typeface="Courier New" panose="020703090202050204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Ubuntu Mono" panose="020B0509030602030204"/>
                  <a:ea typeface="DejaVu Sans" panose="020B0606030804020204"/>
                </a:rPr>
                <a:t>Seq4 Species4</a:t>
              </a:r>
              <a:endParaRPr lang="en-US" sz="400" b="0" strike="noStrike" spc="-1">
                <a:latin typeface="Courier New" panose="020703090202050204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Ubuntu Mono" panose="020B0509030602030204"/>
                  <a:ea typeface="DejaVu Sans" panose="020B0606030804020204"/>
                </a:rPr>
                <a:t>Seq5 Species5</a:t>
              </a:r>
              <a:endParaRPr lang="en-US" sz="400" b="0" strike="noStrike" spc="-1">
                <a:latin typeface="Courier New" panose="02070309020205020404"/>
              </a:endParaRPr>
            </a:p>
            <a:p>
              <a:pPr>
                <a:lnSpc>
                  <a:spcPct val="120000"/>
                </a:lnSpc>
                <a:buNone/>
              </a:pPr>
              <a:r>
                <a:rPr lang="en-US" sz="400" b="0" strike="noStrike" spc="-1">
                  <a:solidFill>
                    <a:srgbClr val="000000"/>
                  </a:solidFill>
                  <a:latin typeface="Ubuntu Mono" panose="020B0509030602030204"/>
                  <a:ea typeface="DejaVu Sans" panose="020B0606030804020204"/>
                </a:rPr>
                <a:t>Seq6 Species6</a:t>
              </a:r>
              <a:endParaRPr lang="en-US" sz="400" b="0" strike="noStrike" spc="-1">
                <a:latin typeface="Courier New" panose="02070309020205020404"/>
              </a:endParaRPr>
            </a:p>
          </p:txBody>
        </p:sp>
        <p:sp>
          <p:nvSpPr>
            <p:cNvPr id="120" name="加号 258"/>
            <p:cNvSpPr/>
            <p:nvPr/>
          </p:nvSpPr>
          <p:spPr>
            <a:xfrm>
              <a:off x="1070640" y="9023400"/>
              <a:ext cx="142200" cy="127080"/>
            </a:xfrm>
            <a:prstGeom prst="mathPlus">
              <a:avLst>
                <a:gd name="adj1" fmla="val 2352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</p:grpSp>
      <p:grpSp>
        <p:nvGrpSpPr>
          <p:cNvPr id="121" name="组合 264"/>
          <p:cNvGrpSpPr/>
          <p:nvPr/>
        </p:nvGrpSpPr>
        <p:grpSpPr>
          <a:xfrm>
            <a:off x="45000" y="3614400"/>
            <a:ext cx="3273480" cy="1398240"/>
            <a:chOff x="45000" y="3614400"/>
            <a:chExt cx="3273480" cy="1398240"/>
          </a:xfrm>
        </p:grpSpPr>
        <p:grpSp>
          <p:nvGrpSpPr>
            <p:cNvPr id="122" name="组合 73"/>
            <p:cNvGrpSpPr/>
            <p:nvPr/>
          </p:nvGrpSpPr>
          <p:grpSpPr>
            <a:xfrm>
              <a:off x="45000" y="3614400"/>
              <a:ext cx="3273480" cy="1398240"/>
              <a:chOff x="45000" y="3614400"/>
              <a:chExt cx="3273480" cy="1398240"/>
            </a:xfrm>
          </p:grpSpPr>
          <p:sp>
            <p:nvSpPr>
              <p:cNvPr id="123" name="文本框 56"/>
              <p:cNvSpPr/>
              <p:nvPr/>
            </p:nvSpPr>
            <p:spPr>
              <a:xfrm>
                <a:off x="138960" y="3908520"/>
                <a:ext cx="906120" cy="38354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Protein alignment (input)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M-ICXAMAXPAL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M-ICAAWAXPAL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Seq3: MGICXAMAXPAL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</p:txBody>
          </p:sp>
          <p:sp>
            <p:nvSpPr>
              <p:cNvPr id="124" name="文本框 57"/>
              <p:cNvSpPr/>
              <p:nvPr/>
            </p:nvSpPr>
            <p:spPr>
              <a:xfrm>
                <a:off x="1274400" y="3908520"/>
                <a:ext cx="1955160" cy="38354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Raw CDS sequences (input)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ATG ATT TGC NNN GCA ATG GCG TNG CCT GCT TTA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ATG ATC TGC GCC GCG TGG GCA AAN CCC GCA TTA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Seq3: ATG GGG ATT TGC NNN GCT ATG GCC NAA CCG GCC TTG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</p:txBody>
          </p:sp>
          <p:sp>
            <p:nvSpPr>
              <p:cNvPr id="125" name="文本框 58"/>
              <p:cNvSpPr/>
              <p:nvPr/>
            </p:nvSpPr>
            <p:spPr>
              <a:xfrm>
                <a:off x="45000" y="3614400"/>
                <a:ext cx="2602800" cy="3178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lang="en-US" sz="10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</a:t>
                </a: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 </a:t>
                </a:r>
                <a:endParaRPr lang="en-US" sz="500" b="0" strike="noStrike" spc="-1">
                  <a:latin typeface="Arial" panose="020B0604020202020204"/>
                </a:endParaRPr>
              </a:p>
              <a:p>
                <a:pPr>
                  <a:lnSpc>
                    <a:spcPct val="100000"/>
                  </a:lnSpc>
                  <a:buNone/>
                </a:pP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Back-translate a protein FASTA alignment to a codon alignment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126" name="文本框 59"/>
              <p:cNvSpPr/>
              <p:nvPr/>
            </p:nvSpPr>
            <p:spPr>
              <a:xfrm>
                <a:off x="45000" y="4858560"/>
                <a:ext cx="3162960" cy="15264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77040" rIns="90000" bIns="77040" anchor="t">
                <a:spAutoFit/>
              </a:bodyPr>
              <a:p>
                <a:pPr>
                  <a:lnSpc>
                    <a:spcPct val="100000"/>
                  </a:lnSpc>
                  <a:buNone/>
                </a:pPr>
                <a:r>
                  <a:rPr lang="en-US" sz="500" b="0" strike="noStrike" spc="-1">
                    <a:solidFill>
                      <a:srgbClr val="0F5FBD"/>
                    </a:solidFill>
                    <a:latin typeface="Arial" panose="020B0604020202020204"/>
                    <a:ea typeface="DejaVu Sans" panose="020B0606030804020204"/>
                  </a:rPr>
                  <a:t>AA2Codon.py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127" name="矩形 60"/>
              <p:cNvSpPr/>
              <p:nvPr/>
            </p:nvSpPr>
            <p:spPr>
              <a:xfrm>
                <a:off x="52200" y="3615120"/>
                <a:ext cx="3266280" cy="1397520"/>
              </a:xfrm>
              <a:prstGeom prst="rect">
                <a:avLst/>
              </a:prstGeom>
              <a:noFill/>
              <a:ln w="6350">
                <a:solidFill>
                  <a:srgbClr val="D9D9D9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</p:sp>
          <p:sp>
            <p:nvSpPr>
              <p:cNvPr id="128" name="文本框 63"/>
              <p:cNvSpPr/>
              <p:nvPr/>
            </p:nvSpPr>
            <p:spPr>
              <a:xfrm>
                <a:off x="131400" y="4475520"/>
                <a:ext cx="3098880" cy="38354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Codon alignment (output)</a:t>
                </a:r>
                <a:endParaRPr lang="en-US" sz="400" b="0" strike="noStrike" spc="-1">
                  <a:latin typeface="Arial" panose="020B0604020202020204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Seq1: ATG --- ATT TGC NNN GCA ATG GCG TNG CCT GCT TTA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Seq2: ATG --- ATC TGC GCC GCG TGG GCA AAN CCC GCA TTA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Liberation Mono" panose="02070409020205020404" charset="0"/>
                    <a:ea typeface="DejaVu Sans" panose="020B0606030804020204"/>
                    <a:cs typeface="Liberation Mono" panose="02070409020205020404" charset="0"/>
                  </a:rPr>
                  <a:t>Seq3: ATG GGG ATT TGC NNN GCT ATG GCC NAA CCG GCC TTG</a:t>
                </a:r>
                <a:endParaRPr lang="en-US" sz="400" b="0" strike="noStrike" spc="-1">
                  <a:latin typeface="Liberation Mono" panose="02070409020205020404" charset="0"/>
                  <a:cs typeface="Liberation Mono" panose="02070409020205020404" charset="0"/>
                </a:endParaRPr>
              </a:p>
            </p:txBody>
          </p:sp>
        </p:grpSp>
        <p:sp>
          <p:nvSpPr>
            <p:cNvPr id="129" name="加号 262"/>
            <p:cNvSpPr/>
            <p:nvPr/>
          </p:nvSpPr>
          <p:spPr>
            <a:xfrm>
              <a:off x="1077480" y="4038120"/>
              <a:ext cx="142200" cy="127080"/>
            </a:xfrm>
            <a:prstGeom prst="mathPlus">
              <a:avLst>
                <a:gd name="adj1" fmla="val 2352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30" name="右箭头 263"/>
            <p:cNvSpPr/>
            <p:nvPr/>
          </p:nvSpPr>
          <p:spPr>
            <a:xfrm rot="5400000">
              <a:off x="1078200" y="432792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</p:grpSp>
      <p:sp>
        <p:nvSpPr>
          <p:cNvPr id="131" name="右箭头 30"/>
          <p:cNvSpPr/>
          <p:nvPr/>
        </p:nvSpPr>
        <p:spPr>
          <a:xfrm>
            <a:off x="3479760" y="591840"/>
            <a:ext cx="142200" cy="7488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grpSp>
        <p:nvGrpSpPr>
          <p:cNvPr id="132" name="组合 36"/>
          <p:cNvGrpSpPr/>
          <p:nvPr/>
        </p:nvGrpSpPr>
        <p:grpSpPr>
          <a:xfrm>
            <a:off x="45000" y="1553040"/>
            <a:ext cx="6727680" cy="1911240"/>
            <a:chOff x="45000" y="1553040"/>
            <a:chExt cx="6727680" cy="1911240"/>
          </a:xfrm>
        </p:grpSpPr>
        <p:sp>
          <p:nvSpPr>
            <p:cNvPr id="133" name="矩形 38"/>
            <p:cNvSpPr/>
            <p:nvPr/>
          </p:nvSpPr>
          <p:spPr>
            <a:xfrm>
              <a:off x="1809000" y="1761480"/>
              <a:ext cx="3191400" cy="151488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34" name="文本框 61"/>
            <p:cNvSpPr/>
            <p:nvPr/>
          </p:nvSpPr>
          <p:spPr>
            <a:xfrm>
              <a:off x="128160" y="1846440"/>
              <a:ext cx="1331640" cy="144900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Input FASTA files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Choose sequenece type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--seqtype codon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--seqtype prot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--seqtype nucl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--seqtype pseudogene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Choose alignment software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--align-software mafft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--align-software muscle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--align-software prank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--align-software clustalw2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Choose Trimming program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--trim-software trimAlnSeq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--trim-software trimal  # -automated1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--notrim # Skip alignment trimming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grpSp>
          <p:nvGrpSpPr>
            <p:cNvPr id="135" name="组合 62"/>
            <p:cNvGrpSpPr/>
            <p:nvPr/>
          </p:nvGrpSpPr>
          <p:grpSpPr>
            <a:xfrm>
              <a:off x="1809000" y="1761480"/>
              <a:ext cx="842400" cy="468000"/>
              <a:chOff x="1809000" y="1761480"/>
              <a:chExt cx="842400" cy="468000"/>
            </a:xfrm>
          </p:grpSpPr>
          <p:sp>
            <p:nvSpPr>
              <p:cNvPr id="136" name="文本框 64"/>
              <p:cNvSpPr/>
              <p:nvPr/>
            </p:nvSpPr>
            <p:spPr>
              <a:xfrm>
                <a:off x="1809000" y="1761480"/>
                <a:ext cx="842400" cy="18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1. Codon workfow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137" name="文本框 65"/>
              <p:cNvSpPr/>
              <p:nvPr/>
            </p:nvSpPr>
            <p:spPr>
              <a:xfrm>
                <a:off x="1909440" y="1893600"/>
                <a:ext cx="656640" cy="33588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pPr algn="ctr"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CDS FASTA</a:t>
                </a:r>
                <a:br>
                  <a:rPr sz="400"/>
                </a:b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(Allowing stops) </a:t>
                </a:r>
                <a:endParaRPr lang="en-US" sz="400" b="0" strike="noStrike" spc="-1">
                  <a:latin typeface="Arial" panose="020B0604020202020204"/>
                </a:endParaRPr>
              </a:p>
            </p:txBody>
          </p:sp>
        </p:grpSp>
        <p:grpSp>
          <p:nvGrpSpPr>
            <p:cNvPr id="138" name="组合 66"/>
            <p:cNvGrpSpPr/>
            <p:nvPr/>
          </p:nvGrpSpPr>
          <p:grpSpPr>
            <a:xfrm>
              <a:off x="1809000" y="2242080"/>
              <a:ext cx="927000" cy="311040"/>
              <a:chOff x="1809000" y="2242080"/>
              <a:chExt cx="927000" cy="311040"/>
            </a:xfrm>
          </p:grpSpPr>
          <p:sp>
            <p:nvSpPr>
              <p:cNvPr id="139" name="文本框 67"/>
              <p:cNvSpPr/>
              <p:nvPr/>
            </p:nvSpPr>
            <p:spPr>
              <a:xfrm>
                <a:off x="1809000" y="2242080"/>
                <a:ext cx="842400" cy="18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2. Protein workfow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140" name="文本框 68"/>
              <p:cNvSpPr/>
              <p:nvPr/>
            </p:nvSpPr>
            <p:spPr>
              <a:xfrm>
                <a:off x="1909440" y="2374200"/>
                <a:ext cx="826560" cy="17892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179280" rIns="90000" bIns="179280" anchor="ctr">
                <a:noAutofit/>
              </a:bodyPr>
              <a:p>
                <a:pPr algn="ctr"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Protein FASTA</a:t>
                </a:r>
                <a:endParaRPr lang="en-US" sz="400" b="0" strike="noStrike" spc="-1">
                  <a:latin typeface="Arial" panose="020B0604020202020204"/>
                </a:endParaRPr>
              </a:p>
            </p:txBody>
          </p:sp>
        </p:grpSp>
        <p:grpSp>
          <p:nvGrpSpPr>
            <p:cNvPr id="141" name="组合 69"/>
            <p:cNvGrpSpPr/>
            <p:nvPr/>
          </p:nvGrpSpPr>
          <p:grpSpPr>
            <a:xfrm>
              <a:off x="1809000" y="2522160"/>
              <a:ext cx="926640" cy="328320"/>
              <a:chOff x="1809000" y="2522160"/>
              <a:chExt cx="926640" cy="328320"/>
            </a:xfrm>
          </p:grpSpPr>
          <p:sp>
            <p:nvSpPr>
              <p:cNvPr id="142" name="文本框 70"/>
              <p:cNvSpPr/>
              <p:nvPr/>
            </p:nvSpPr>
            <p:spPr>
              <a:xfrm>
                <a:off x="1809000" y="2522160"/>
                <a:ext cx="878760" cy="18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3. Nucleotide workfow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143" name="文本框 75"/>
              <p:cNvSpPr/>
              <p:nvPr/>
            </p:nvSpPr>
            <p:spPr>
              <a:xfrm>
                <a:off x="1909440" y="2671560"/>
                <a:ext cx="826200" cy="17892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179280" rIns="90000" bIns="179280" anchor="ctr">
                <a:noAutofit/>
              </a:bodyPr>
              <a:p>
                <a:pPr algn="ctr"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Nucleotide FASTA</a:t>
                </a:r>
                <a:endParaRPr lang="en-US" sz="400" b="0" strike="noStrike" spc="-1">
                  <a:latin typeface="Arial" panose="020B0604020202020204"/>
                </a:endParaRPr>
              </a:p>
            </p:txBody>
          </p:sp>
        </p:grpSp>
        <p:sp>
          <p:nvSpPr>
            <p:cNvPr id="144" name="文本框 78"/>
            <p:cNvSpPr/>
            <p:nvPr/>
          </p:nvSpPr>
          <p:spPr>
            <a:xfrm>
              <a:off x="2764080" y="1905480"/>
              <a:ext cx="405720" cy="33588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Clean CDS + Translate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45" name="文本框 89"/>
            <p:cNvSpPr/>
            <p:nvPr/>
          </p:nvSpPr>
          <p:spPr>
            <a:xfrm>
              <a:off x="3116520" y="2670840"/>
              <a:ext cx="656640" cy="1789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179280" rIns="90000" bIns="17928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Sequence Align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46" name="文本框 91"/>
            <p:cNvSpPr/>
            <p:nvPr/>
          </p:nvSpPr>
          <p:spPr>
            <a:xfrm>
              <a:off x="3116520" y="2374200"/>
              <a:ext cx="656640" cy="1789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179280" rIns="90000" bIns="17928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Sequence Align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47" name="文本框 92"/>
            <p:cNvSpPr/>
            <p:nvPr/>
          </p:nvSpPr>
          <p:spPr>
            <a:xfrm>
              <a:off x="4238640" y="2374200"/>
              <a:ext cx="656640" cy="1789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179280" rIns="90000" bIns="17928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Trim protein alignments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48" name="文本框 93"/>
            <p:cNvSpPr/>
            <p:nvPr/>
          </p:nvSpPr>
          <p:spPr>
            <a:xfrm>
              <a:off x="4238640" y="2671560"/>
              <a:ext cx="656640" cy="1789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179280" rIns="90000" bIns="17928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Trim nucleotide alignments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49" name="文本框 94"/>
            <p:cNvSpPr/>
            <p:nvPr/>
          </p:nvSpPr>
          <p:spPr>
            <a:xfrm>
              <a:off x="3330000" y="1905480"/>
              <a:ext cx="426600" cy="33588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Sequence Align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50" name="文本框 95"/>
            <p:cNvSpPr/>
            <p:nvPr/>
          </p:nvSpPr>
          <p:spPr>
            <a:xfrm>
              <a:off x="3922560" y="1905480"/>
              <a:ext cx="386640" cy="33588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Back-translate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51" name="文本框 96"/>
            <p:cNvSpPr/>
            <p:nvPr/>
          </p:nvSpPr>
          <p:spPr>
            <a:xfrm>
              <a:off x="4467960" y="1905480"/>
              <a:ext cx="426600" cy="33588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Trim protein + codon alignments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52" name="右箭头 97"/>
            <p:cNvSpPr/>
            <p:nvPr/>
          </p:nvSpPr>
          <p:spPr>
            <a:xfrm>
              <a:off x="2592720" y="20440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53" name="右箭头 98"/>
            <p:cNvSpPr/>
            <p:nvPr/>
          </p:nvSpPr>
          <p:spPr>
            <a:xfrm>
              <a:off x="3181320" y="20440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54" name="右箭头 99"/>
            <p:cNvSpPr/>
            <p:nvPr/>
          </p:nvSpPr>
          <p:spPr>
            <a:xfrm>
              <a:off x="3764880" y="20440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55" name="右箭头 100"/>
            <p:cNvSpPr/>
            <p:nvPr/>
          </p:nvSpPr>
          <p:spPr>
            <a:xfrm>
              <a:off x="4325040" y="20440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56" name="右箭头 101"/>
            <p:cNvSpPr/>
            <p:nvPr/>
          </p:nvSpPr>
          <p:spPr>
            <a:xfrm>
              <a:off x="2854800" y="24256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57" name="右箭头 102"/>
            <p:cNvSpPr/>
            <p:nvPr/>
          </p:nvSpPr>
          <p:spPr>
            <a:xfrm>
              <a:off x="2854800" y="270576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58" name="右箭头 103"/>
            <p:cNvSpPr/>
            <p:nvPr/>
          </p:nvSpPr>
          <p:spPr>
            <a:xfrm>
              <a:off x="3951720" y="24256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59" name="右箭头 104"/>
            <p:cNvSpPr/>
            <p:nvPr/>
          </p:nvSpPr>
          <p:spPr>
            <a:xfrm>
              <a:off x="3951720" y="270576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60" name="文本框 105"/>
            <p:cNvSpPr/>
            <p:nvPr/>
          </p:nvSpPr>
          <p:spPr>
            <a:xfrm>
              <a:off x="5243040" y="1761480"/>
              <a:ext cx="1331640" cy="5569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Output FASTA files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Codon alignment: *.codon.aln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Protein alignment: *.prot.aln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Nucleotide alignment: .nucl.aln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Trimmed alignment (optional): *.trimal.aln</a:t>
              </a: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endParaRPr lang="en-US" sz="400" b="0" strike="noStrike" spc="-1">
                <a:latin typeface="Arial" panose="020B0604020202020204"/>
              </a:endParaRPr>
            </a:p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61" name="右箭头 106"/>
            <p:cNvSpPr/>
            <p:nvPr/>
          </p:nvSpPr>
          <p:spPr>
            <a:xfrm>
              <a:off x="1543680" y="250524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62" name="右箭头 107"/>
            <p:cNvSpPr/>
            <p:nvPr/>
          </p:nvSpPr>
          <p:spPr>
            <a:xfrm>
              <a:off x="5045760" y="211968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63" name="文本框 108"/>
            <p:cNvSpPr/>
            <p:nvPr/>
          </p:nvSpPr>
          <p:spPr>
            <a:xfrm>
              <a:off x="45000" y="1553040"/>
              <a:ext cx="2602800" cy="31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10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B</a:t>
              </a:r>
              <a:endParaRPr lang="en-US" sz="1000" b="0" strike="noStrike" spc="-1">
                <a:latin typeface="Arial" panose="020B0604020202020204"/>
              </a:endParaRPr>
            </a:p>
            <a:p>
              <a:pPr>
                <a:lnSpc>
                  <a:spcPct val="100000"/>
                </a:lnSpc>
                <a:buNone/>
              </a:pPr>
              <a:r>
                <a:rPr lang="en-US" sz="500" b="1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Multiple sequence alignment pipeline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164" name="矩形 109"/>
            <p:cNvSpPr/>
            <p:nvPr/>
          </p:nvSpPr>
          <p:spPr>
            <a:xfrm>
              <a:off x="90000" y="1577880"/>
              <a:ext cx="6682680" cy="1886400"/>
            </a:xfrm>
            <a:prstGeom prst="rect">
              <a:avLst/>
            </a:prstGeom>
            <a:noFill/>
            <a:ln w="6350">
              <a:solidFill>
                <a:srgbClr val="D9D9D9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65" name="文本框 110"/>
            <p:cNvSpPr/>
            <p:nvPr/>
          </p:nvSpPr>
          <p:spPr>
            <a:xfrm>
              <a:off x="59760" y="3296160"/>
              <a:ext cx="3162960" cy="15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77040" rIns="90000" bIns="77040" anchor="t">
              <a:spAutoFit/>
            </a:bodyPr>
            <a:p>
              <a:pPr>
                <a:lnSpc>
                  <a:spcPct val="100000"/>
                </a:lnSpc>
                <a:buNone/>
              </a:pPr>
              <a:r>
                <a:rPr lang="en-US" sz="5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MSAP.py | MSAP_batch.py</a:t>
              </a:r>
              <a:endParaRPr lang="en-US" sz="500" b="0" strike="noStrike" spc="-1">
                <a:latin typeface="Arial" panose="020B0604020202020204"/>
              </a:endParaRPr>
            </a:p>
          </p:txBody>
        </p:sp>
        <p:sp>
          <p:nvSpPr>
            <p:cNvPr id="166" name="文本框 111"/>
            <p:cNvSpPr/>
            <p:nvPr/>
          </p:nvSpPr>
          <p:spPr>
            <a:xfrm>
              <a:off x="5243040" y="3107520"/>
              <a:ext cx="1331640" cy="16884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169200" rIns="90000" bIns="169200" anchor="t">
              <a:noAutofit/>
            </a:bodyPr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MSA Matrix Connecting to Downstream Scripts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67" name="右箭头 112"/>
            <p:cNvSpPr/>
            <p:nvPr/>
          </p:nvSpPr>
          <p:spPr>
            <a:xfrm rot="5400000">
              <a:off x="5838840" y="296604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68" name="文本框 113"/>
            <p:cNvSpPr/>
            <p:nvPr/>
          </p:nvSpPr>
          <p:spPr>
            <a:xfrm>
              <a:off x="5243040" y="2580480"/>
              <a:ext cx="1331640" cy="2851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45000" rIns="90000" bIns="45000" anchor="t">
              <a:noAutofit/>
            </a:bodyPr>
            <a:p>
              <a:pPr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Run </a:t>
              </a:r>
              <a:r>
                <a:rPr lang="en-US" sz="4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MSAP.py </a:t>
              </a: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on multiple FASTA files concurrently with validated results and resume support by </a:t>
              </a:r>
              <a:r>
                <a:rPr lang="en-US" sz="400" b="0" strike="noStrike" spc="-1">
                  <a:solidFill>
                    <a:srgbClr val="0F5FBD"/>
                  </a:solidFill>
                  <a:latin typeface="Arial" panose="020B0604020202020204"/>
                  <a:ea typeface="DejaVu Sans" panose="020B0606030804020204"/>
                </a:rPr>
                <a:t>MSAP_batch.py script</a:t>
              </a: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.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69" name="右箭头 114"/>
            <p:cNvSpPr/>
            <p:nvPr/>
          </p:nvSpPr>
          <p:spPr>
            <a:xfrm rot="5400000">
              <a:off x="5838840" y="239580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grpSp>
          <p:nvGrpSpPr>
            <p:cNvPr id="170" name="组合 115"/>
            <p:cNvGrpSpPr/>
            <p:nvPr/>
          </p:nvGrpSpPr>
          <p:grpSpPr>
            <a:xfrm>
              <a:off x="1809000" y="2833200"/>
              <a:ext cx="925920" cy="328320"/>
              <a:chOff x="1809000" y="2833200"/>
              <a:chExt cx="925920" cy="328320"/>
            </a:xfrm>
          </p:grpSpPr>
          <p:sp>
            <p:nvSpPr>
              <p:cNvPr id="171" name="文本框 116"/>
              <p:cNvSpPr/>
              <p:nvPr/>
            </p:nvSpPr>
            <p:spPr>
              <a:xfrm>
                <a:off x="1809000" y="2833200"/>
                <a:ext cx="925920" cy="18072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p>
                <a:pPr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500" b="1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4. pseudogene workfow</a:t>
                </a:r>
                <a:endParaRPr lang="en-US" sz="500" b="0" strike="noStrike" spc="-1">
                  <a:latin typeface="Arial" panose="020B0604020202020204"/>
                </a:endParaRPr>
              </a:p>
            </p:txBody>
          </p:sp>
          <p:sp>
            <p:nvSpPr>
              <p:cNvPr id="172" name="文本框 117"/>
              <p:cNvSpPr/>
              <p:nvPr/>
            </p:nvSpPr>
            <p:spPr>
              <a:xfrm>
                <a:off x="1909440" y="2982600"/>
                <a:ext cx="824760" cy="178920"/>
              </a:xfrm>
              <a:prstGeom prst="rect">
                <a:avLst/>
              </a:prstGeom>
              <a:solidFill>
                <a:srgbClr val="F8FAFC"/>
              </a:solidFill>
              <a:ln w="0">
                <a:noFill/>
              </a:ln>
            </p:spPr>
            <p:style>
              <a:lnRef idx="0">
                <a:srgbClr val="FFFFFF"/>
              </a:lnRef>
              <a:fillRef idx="0">
                <a:srgbClr val="FFFFFF"/>
              </a:fillRef>
              <a:effectRef idx="0">
                <a:srgbClr val="FFFFFF"/>
              </a:effectRef>
              <a:fontRef idx="minor"/>
            </p:style>
            <p:txBody>
              <a:bodyPr lIns="90000" tIns="179280" rIns="90000" bIns="179280" anchor="ctr">
                <a:noAutofit/>
              </a:bodyPr>
              <a:p>
                <a:pPr algn="ctr">
                  <a:lnSpc>
                    <a:spcPct val="120000"/>
                  </a:lnSpc>
                  <a:buNone/>
                  <a:tabLst>
                    <a:tab pos="0" algn="l"/>
                  </a:tabLst>
                </a:pP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CDS FASTA</a:t>
                </a:r>
                <a:br>
                  <a:rPr sz="400"/>
                </a:br>
                <a:r>
                  <a:rPr lang="en-US" sz="400" b="0" strike="noStrike" spc="-1">
                    <a:solidFill>
                      <a:srgbClr val="000000"/>
                    </a:solidFill>
                    <a:latin typeface="Arial" panose="020B0604020202020204"/>
                    <a:ea typeface="DejaVu Sans" panose="020B0606030804020204"/>
                  </a:rPr>
                  <a:t> (Allowing frameshifts/stops) </a:t>
                </a:r>
                <a:endParaRPr lang="en-US" sz="400" b="0" strike="noStrike" spc="-1">
                  <a:latin typeface="Arial" panose="020B0604020202020204"/>
                </a:endParaRPr>
              </a:p>
            </p:txBody>
          </p:sp>
        </p:grpSp>
        <p:sp>
          <p:nvSpPr>
            <p:cNvPr id="173" name="文本框 118"/>
            <p:cNvSpPr/>
            <p:nvPr/>
          </p:nvSpPr>
          <p:spPr>
            <a:xfrm>
              <a:off x="3115800" y="2981880"/>
              <a:ext cx="657000" cy="1789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179280" rIns="90000" bIns="17928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Sequence Align by macse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74" name="文本框 119"/>
            <p:cNvSpPr/>
            <p:nvPr/>
          </p:nvSpPr>
          <p:spPr>
            <a:xfrm>
              <a:off x="4238640" y="2982600"/>
              <a:ext cx="656640" cy="178920"/>
            </a:xfrm>
            <a:prstGeom prst="rect">
              <a:avLst/>
            </a:prstGeom>
            <a:solidFill>
              <a:srgbClr val="F8FAFC"/>
            </a:solidFill>
            <a:ln w="0">
              <a:noFill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minor"/>
          </p:style>
          <p:txBody>
            <a:bodyPr lIns="90000" tIns="179280" rIns="90000" bIns="179280" anchor="ctr">
              <a:noAutofit/>
            </a:bodyPr>
            <a:p>
              <a:pPr algn="ctr">
                <a:lnSpc>
                  <a:spcPct val="120000"/>
                </a:lnSpc>
                <a:buNone/>
                <a:tabLst>
                  <a:tab pos="0" algn="l"/>
                </a:tabLst>
              </a:pPr>
              <a:r>
                <a:rPr lang="en-US" sz="400" b="0" strike="noStrike" spc="-1">
                  <a:solidFill>
                    <a:srgbClr val="000000"/>
                  </a:solidFill>
                  <a:latin typeface="Arial" panose="020B0604020202020204"/>
                  <a:ea typeface="DejaVu Sans" panose="020B0606030804020204"/>
                </a:rPr>
                <a:t>Trim protein + codon alignments</a:t>
              </a:r>
              <a:endParaRPr lang="en-US" sz="400" b="0" strike="noStrike" spc="-1">
                <a:latin typeface="Arial" panose="020B0604020202020204"/>
              </a:endParaRPr>
            </a:p>
          </p:txBody>
        </p:sp>
        <p:sp>
          <p:nvSpPr>
            <p:cNvPr id="175" name="右箭头 120"/>
            <p:cNvSpPr/>
            <p:nvPr/>
          </p:nvSpPr>
          <p:spPr>
            <a:xfrm>
              <a:off x="2854800" y="301680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  <p:sp>
          <p:nvSpPr>
            <p:cNvPr id="176" name="右箭头 121"/>
            <p:cNvSpPr/>
            <p:nvPr/>
          </p:nvSpPr>
          <p:spPr>
            <a:xfrm>
              <a:off x="3951720" y="3016800"/>
              <a:ext cx="142200" cy="7488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/>
          </p:style>
        </p:sp>
      </p:grpSp>
      <p:sp>
        <p:nvSpPr>
          <p:cNvPr id="177" name="文本框 123"/>
          <p:cNvSpPr/>
          <p:nvPr/>
        </p:nvSpPr>
        <p:spPr>
          <a:xfrm>
            <a:off x="3691800" y="345960"/>
            <a:ext cx="2254680" cy="90864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45000" rIns="90000" bIns="45000" anchor="t">
            <a:noAutofit/>
          </a:bodyPr>
          <a:p>
            <a:pPr>
              <a:lnSpc>
                <a:spcPct val="120000"/>
              </a:lnSpc>
              <a:buNone/>
            </a:pPr>
            <a:r>
              <a:rPr lang="en-US" sz="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Copy-mode examples (output FASTA files)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--copy-mode single-copy --min-taxa 6                               --copy-mode all-copies --min-taxa 6         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OG0000000.fasta                                                               OG0000000.fasta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OG0000002.fasta                                                               OG0000002.fasta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                                                                                           </a:t>
            </a: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OG0000003.fasta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                              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--copy-mode single-copy --min-taxa 5                               --copy-mode all-copies --min-taxa 5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OG0000000.fasta                                                               OG0000000.fasta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OG0000002.fasta                                                               OG0000002.fasta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OG0000004.fasta                                                               OG0000003.fasta</a:t>
            </a:r>
            <a:endParaRPr lang="en-US" sz="400" b="0" strike="noStrike" spc="-1">
              <a:latin typeface="Arial" panose="020B0604020202020204"/>
            </a:endParaRPr>
          </a:p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                                                                                            </a:t>
            </a: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OG0000004.fasta</a:t>
            </a:r>
            <a:endParaRPr lang="en-US" sz="400" b="0" strike="noStrike" spc="-1">
              <a:latin typeface="Arial" panose="020B0604020202020204"/>
            </a:endParaRPr>
          </a:p>
        </p:txBody>
      </p:sp>
      <p:sp>
        <p:nvSpPr>
          <p:cNvPr id="178" name="文本框 127"/>
          <p:cNvSpPr/>
          <p:nvPr/>
        </p:nvSpPr>
        <p:spPr>
          <a:xfrm>
            <a:off x="984240" y="1108080"/>
            <a:ext cx="2407320" cy="173880"/>
          </a:xfrm>
          <a:prstGeom prst="rect">
            <a:avLst/>
          </a:prstGeom>
          <a:solidFill>
            <a:srgbClr val="F8FAFC"/>
          </a:solidFill>
          <a:ln w="0">
            <a:noFill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/>
        </p:style>
        <p:txBody>
          <a:bodyPr lIns="90000" tIns="174240" rIns="90000" bIns="174240" anchor="ctr">
            <a:noAutofit/>
          </a:bodyPr>
          <a:p>
            <a:pPr>
              <a:lnSpc>
                <a:spcPct val="120000"/>
              </a:lnSpc>
              <a:buNone/>
              <a:tabLst>
                <a:tab pos="0" algn="l"/>
              </a:tabLst>
            </a:pPr>
            <a:r>
              <a:rPr lang="en-US" sz="400" b="1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Format conversion: </a:t>
            </a: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OrthoMCL </a:t>
            </a:r>
            <a:r>
              <a:rPr lang="zh-CN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、</a:t>
            </a: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OMA</a:t>
            </a:r>
            <a:r>
              <a:rPr lang="zh-CN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、</a:t>
            </a: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ProteinOrtho</a:t>
            </a:r>
            <a:r>
              <a:rPr lang="zh-CN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、</a:t>
            </a:r>
            <a:r>
              <a:rPr lang="en-US" sz="400" b="0" strike="noStrike" spc="-1">
                <a:solidFill>
                  <a:srgbClr val="000000"/>
                </a:solidFill>
                <a:latin typeface="Arial" panose="020B0604020202020204"/>
                <a:ea typeface="DejaVu Sans" panose="020B0606030804020204"/>
              </a:rPr>
              <a:t>SonicParanoid  to  OrthoFinder</a:t>
            </a:r>
            <a:endParaRPr lang="en-US" sz="400" b="0" strike="noStrike" spc="-1">
              <a:latin typeface="Arial" panose="020B0604020202020204"/>
            </a:endParaRPr>
          </a:p>
        </p:txBody>
      </p:sp>
      <p:sp>
        <p:nvSpPr>
          <p:cNvPr id="179" name="右箭头 128"/>
          <p:cNvSpPr/>
          <p:nvPr/>
        </p:nvSpPr>
        <p:spPr>
          <a:xfrm rot="16200000">
            <a:off x="1576800" y="988560"/>
            <a:ext cx="86400" cy="756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/>
        </p:style>
      </p:sp>
      <p:sp>
        <p:nvSpPr>
          <p:cNvPr id="180" name="直接连接符 3"/>
          <p:cNvSpPr/>
          <p:nvPr/>
        </p:nvSpPr>
        <p:spPr>
          <a:xfrm>
            <a:off x="1923840" y="6876000"/>
            <a:ext cx="12427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1" name="直接连接符 4"/>
          <p:cNvSpPr/>
          <p:nvPr/>
        </p:nvSpPr>
        <p:spPr>
          <a:xfrm>
            <a:off x="2948400" y="6800400"/>
            <a:ext cx="11448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2" name="直接连接符 5"/>
          <p:cNvSpPr/>
          <p:nvPr/>
        </p:nvSpPr>
        <p:spPr>
          <a:xfrm>
            <a:off x="2948040" y="6726495"/>
            <a:ext cx="11448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3" name="直接连接符 6"/>
          <p:cNvSpPr/>
          <p:nvPr/>
        </p:nvSpPr>
        <p:spPr>
          <a:xfrm>
            <a:off x="2215440" y="680400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4" name="直接连接符 8"/>
          <p:cNvSpPr/>
          <p:nvPr/>
        </p:nvSpPr>
        <p:spPr>
          <a:xfrm>
            <a:off x="2215720" y="673037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5" name="直接连接符 13"/>
          <p:cNvSpPr/>
          <p:nvPr/>
        </p:nvSpPr>
        <p:spPr>
          <a:xfrm>
            <a:off x="2215440" y="583668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6" name="直接连接符 16"/>
          <p:cNvSpPr/>
          <p:nvPr/>
        </p:nvSpPr>
        <p:spPr>
          <a:xfrm>
            <a:off x="2215440" y="576360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7" name="直接连接符 17"/>
          <p:cNvSpPr/>
          <p:nvPr/>
        </p:nvSpPr>
        <p:spPr>
          <a:xfrm>
            <a:off x="2215440" y="569306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8" name="直接连接符 18"/>
          <p:cNvSpPr/>
          <p:nvPr/>
        </p:nvSpPr>
        <p:spPr>
          <a:xfrm>
            <a:off x="2581200" y="583308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89" name="直接连接符 19"/>
          <p:cNvSpPr/>
          <p:nvPr/>
        </p:nvSpPr>
        <p:spPr>
          <a:xfrm>
            <a:off x="2581200" y="576360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90" name="直接连接符 20"/>
          <p:cNvSpPr/>
          <p:nvPr/>
        </p:nvSpPr>
        <p:spPr>
          <a:xfrm>
            <a:off x="2574000" y="5692425"/>
            <a:ext cx="11448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91" name="直接连接符 21"/>
          <p:cNvSpPr/>
          <p:nvPr/>
        </p:nvSpPr>
        <p:spPr>
          <a:xfrm>
            <a:off x="3070800" y="583668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92" name="直接连接符 22"/>
          <p:cNvSpPr/>
          <p:nvPr/>
        </p:nvSpPr>
        <p:spPr>
          <a:xfrm>
            <a:off x="3070800" y="5763600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  <p:sp>
        <p:nvSpPr>
          <p:cNvPr id="193" name="直接连接符 23"/>
          <p:cNvSpPr/>
          <p:nvPr/>
        </p:nvSpPr>
        <p:spPr>
          <a:xfrm>
            <a:off x="3070800" y="5692425"/>
            <a:ext cx="114120" cy="360"/>
          </a:xfrm>
          <a:prstGeom prst="line">
            <a:avLst/>
          </a:prstGeom>
          <a:ln w="3175">
            <a:solidFill>
              <a:srgbClr val="E6882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/>
        </p:style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7995</Words>
  <Application>WPS 演示</Application>
  <PresentationFormat/>
  <Paragraphs>314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27" baseType="lpstr">
      <vt:lpstr>Arial</vt:lpstr>
      <vt:lpstr>宋体</vt:lpstr>
      <vt:lpstr>Wingdings</vt:lpstr>
      <vt:lpstr>Arial</vt:lpstr>
      <vt:lpstr>Times New Roman</vt:lpstr>
      <vt:lpstr>OpenSymbol</vt:lpstr>
      <vt:lpstr>Symbol</vt:lpstr>
      <vt:lpstr>DejaVu Sans</vt:lpstr>
      <vt:lpstr>Calibri</vt:lpstr>
      <vt:lpstr>Trebuchet MS</vt:lpstr>
      <vt:lpstr>Courier New</vt:lpstr>
      <vt:lpstr>Ubuntu Mono</vt:lpstr>
      <vt:lpstr>Arial Unicode MS</vt:lpstr>
      <vt:lpstr>微软雅黑</vt:lpstr>
      <vt:lpstr>宋体</vt:lpstr>
      <vt:lpstr>Comfortaa Light</vt:lpstr>
      <vt:lpstr>Liberation Mono</vt:lpstr>
      <vt:lpstr>Cantarell Thin</vt:lpstr>
      <vt:lpstr>Carlito</vt:lpstr>
      <vt:lpstr>Asana Math</vt:lpstr>
      <vt:lpstr>Arial Narrow</vt:lpstr>
      <vt:lpstr>Ani</vt:lpstr>
      <vt:lpstr>Times New Roman</vt:lpstr>
      <vt:lpstr>Cabin</vt:lpstr>
      <vt:lpstr>Bitstream Charter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chenguisen</cp:lastModifiedBy>
  <cp:revision>86</cp:revision>
  <dcterms:created xsi:type="dcterms:W3CDTF">2026-10-01T10:24:51Z</dcterms:created>
  <dcterms:modified xsi:type="dcterms:W3CDTF">2026-10-01T10:24:51Z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9B30FC3A67990A859E21BE6A71E4C934_43</vt:lpwstr>
  </property>
  <property fmtid="{D5CDD505-2E9C-101B-9397-08002B2CF9AE}" pid="3" name="KSOProductBuildVer">
    <vt:lpwstr>2052-12.1.0.17885</vt:lpwstr>
  </property>
  <property fmtid="{D5CDD505-2E9C-101B-9397-08002B2CF9AE}" pid="4" name="PresentationFormat">
    <vt:lpwstr>宽屏</vt:lpwstr>
  </property>
  <property fmtid="{D5CDD505-2E9C-101B-9397-08002B2CF9AE}" pid="5" name="Slides">
    <vt:i4>1</vt:i4>
  </property>
</Properties>
</file>