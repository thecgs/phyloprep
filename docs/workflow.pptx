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</p:sldIdLst>
  <p:sldSz cx="6858000" cy="12192635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89" userDrawn="1">
          <p15:clr>
            <a:srgbClr val="A4A3A4"/>
          </p15:clr>
        </p15:guide>
        <p15:guide id="2" pos="215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8822"/>
    <a:srgbClr val="0B8A98"/>
    <a:srgbClr val="0F5FBD"/>
    <a:srgbClr val="B2B2B2"/>
    <a:srgbClr val="202020"/>
    <a:srgbClr val="323232"/>
    <a:srgbClr val="CC3300"/>
    <a:srgbClr val="CC0000"/>
    <a:srgbClr val="FF3300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3889"/>
        <p:guide pos="2152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581371" y="1279525"/>
            <a:ext cx="1942909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857290" y="2352164"/>
            <a:ext cx="5143739" cy="3888385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45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857290" y="6404254"/>
            <a:ext cx="5143739" cy="2943867"/>
          </a:xfrm>
        </p:spPr>
        <p:txBody>
          <a:bodyPr>
            <a:normAutofit/>
          </a:bodyPr>
          <a:lstStyle>
            <a:lvl1pPr marL="0" indent="0" algn="ctr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64348" y="459503"/>
            <a:ext cx="5915299" cy="2356788"/>
          </a:xfrm>
        </p:spPr>
        <p:txBody>
          <a:bodyPr anchor="ctr" anchorCtr="0">
            <a:normAutofit/>
          </a:bodyPr>
          <a:lstStyle>
            <a:lvl1pPr>
              <a:defRPr sz="18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64348" y="3245875"/>
            <a:ext cx="5915299" cy="7736474"/>
          </a:xfrm>
        </p:spPr>
        <p:txBody>
          <a:bodyPr>
            <a:normAutofit/>
          </a:bodyPr>
          <a:lstStyle>
            <a:lvl1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7937" y="6669309"/>
            <a:ext cx="4118563" cy="1442554"/>
          </a:xfrm>
        </p:spPr>
        <p:txBody>
          <a:bodyPr anchor="b">
            <a:normAutofit/>
          </a:bodyPr>
          <a:lstStyle>
            <a:lvl1pPr>
              <a:defRPr sz="3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67937" y="8196412"/>
            <a:ext cx="4118563" cy="1151322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64348" y="459503"/>
            <a:ext cx="5915299" cy="2356788"/>
          </a:xfrm>
        </p:spPr>
        <p:txBody>
          <a:bodyPr>
            <a:normAutofit/>
          </a:bodyPr>
          <a:lstStyle>
            <a:lvl1pPr>
              <a:defRPr sz="18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64348" y="3245875"/>
            <a:ext cx="2914785" cy="773647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364862" y="3245875"/>
            <a:ext cx="2914785" cy="773647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2403" y="649175"/>
            <a:ext cx="5915299" cy="2356788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2403" y="3102458"/>
            <a:ext cx="2901390" cy="146487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72403" y="4650429"/>
            <a:ext cx="2901390" cy="6354499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3472024" y="3102458"/>
            <a:ext cx="2915678" cy="146487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3472024" y="4650429"/>
            <a:ext cx="2915678" cy="6354499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509" y="4918207"/>
            <a:ext cx="5915299" cy="2356788"/>
          </a:xfrm>
        </p:spPr>
        <p:txBody>
          <a:bodyPr>
            <a:normAutofit/>
          </a:bodyPr>
          <a:lstStyle>
            <a:lvl1pPr algn="ctr">
              <a:defRPr sz="36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363812" y="225800"/>
            <a:ext cx="2343034" cy="2845080"/>
          </a:xfrm>
        </p:spPr>
        <p:txBody>
          <a:bodyPr anchor="ctr" anchorCtr="0">
            <a:normAutofit/>
          </a:bodyPr>
          <a:lstStyle>
            <a:lvl1pPr>
              <a:defRPr sz="18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2916135" y="1362541"/>
            <a:ext cx="3272425" cy="905768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66670" y="3657960"/>
            <a:ext cx="2343034" cy="6776824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5526529" y="649175"/>
            <a:ext cx="860280" cy="10333174"/>
          </a:xfrm>
        </p:spPr>
        <p:txBody>
          <a:bodyPr vert="eaVert">
            <a:normAutofit/>
          </a:bodyPr>
          <a:lstStyle>
            <a:lvl1pPr>
              <a:defRPr sz="27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71509" y="649175"/>
            <a:ext cx="4995208" cy="10333174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471509" y="980617"/>
            <a:ext cx="5915299" cy="9883588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71509" y="649175"/>
            <a:ext cx="5915299" cy="2356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1509" y="3245875"/>
            <a:ext cx="5915299" cy="77364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509" y="11301291"/>
            <a:ext cx="1543122" cy="649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71818" y="11301291"/>
            <a:ext cx="2314682" cy="649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843687" y="11301291"/>
            <a:ext cx="1543122" cy="649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/>
          <p:cNvGrpSpPr/>
          <p:nvPr/>
        </p:nvGrpSpPr>
        <p:grpSpPr>
          <a:xfrm>
            <a:off x="3488690" y="91440"/>
            <a:ext cx="3274695" cy="841375"/>
            <a:chOff x="5446" y="5908"/>
            <a:chExt cx="5157" cy="1325"/>
          </a:xfrm>
        </p:grpSpPr>
        <p:sp>
          <p:nvSpPr>
            <p:cNvPr id="8" name="文本框 7"/>
            <p:cNvSpPr txBox="1"/>
            <p:nvPr/>
          </p:nvSpPr>
          <p:spPr>
            <a:xfrm>
              <a:off x="5591" y="6359"/>
              <a:ext cx="1732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Codon alignment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Seq1: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T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C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T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T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T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C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C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T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endParaRPr lang="en-US" altLang="zh-CN" sz="400">
                <a:latin typeface="Liberation Mono" panose="02070409020205020404" charset="0"/>
                <a:cs typeface="Liberation Mono" panose="020704090202050204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Seq2: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T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C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T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T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C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C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endParaRPr lang="en-US" altLang="zh-CN" sz="400">
                <a:latin typeface="Liberation Mono" panose="02070409020205020404" charset="0"/>
                <a:cs typeface="Liberation Mono" panose="020704090202050204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Seq3: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T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C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C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T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T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C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C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C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T</a:t>
              </a:r>
              <a:endParaRPr lang="en-US" altLang="zh-CN" sz="400">
                <a:solidFill>
                  <a:srgbClr val="0B8A98"/>
                </a:solidFill>
                <a:latin typeface="Liberation Mono" panose="02070409020205020404" charset="0"/>
                <a:cs typeface="Liberation Mono" panose="0207040902020502040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7642" y="6359"/>
              <a:ext cx="2827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1st codon alignment</a:t>
              </a:r>
              <a:r>
                <a:rPr lang="en-US" altLang="zh-CN" sz="400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      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2nd codon alignment</a:t>
              </a:r>
              <a:r>
                <a:rPr lang="en-US" altLang="zh-CN" sz="400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    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3rd codon alignment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Seq1: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AGTGCA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 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 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Seq1: 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TCTGCA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     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Seq1: 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GTAATA</a:t>
              </a:r>
              <a:endParaRPr lang="en-US" altLang="zh-CN" sz="400">
                <a:latin typeface="Liberation Mono" panose="02070409020205020404" charset="0"/>
                <a:cs typeface="Liberation Mono" panose="020704090202050204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Seq2: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AGTGCA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     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Seq2: 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TCTGCA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     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Seq2: 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GAAAAG</a:t>
              </a:r>
              <a:endParaRPr lang="en-US" altLang="zh-CN" sz="400">
                <a:latin typeface="Liberation Mono" panose="02070409020205020404" charset="0"/>
                <a:cs typeface="Liberation Mono" panose="020704090202050204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Seq3: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AGTGCA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     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Seq3: 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TCTGCA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     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Seq3: 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GCGACT</a:t>
              </a:r>
              <a:endParaRPr lang="en-US" altLang="zh-CN" sz="400">
                <a:solidFill>
                  <a:srgbClr val="0B8A98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446" y="5908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altLang="zh-CN" sz="1000" b="1">
                  <a:latin typeface="Arial" panose="020B0604020202020204" pitchFamily="34" charset="0"/>
                  <a:cs typeface="Arial" panose="020B0604020202020204" pitchFamily="34" charset="0"/>
                </a:rPr>
                <a:t>G</a:t>
              </a:r>
              <a:endParaRPr lang="zh-CN" alt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lang="zh-CN" altLang="en-US" sz="500" b="1">
                  <a:latin typeface="Arial" panose="020B0604020202020204" pitchFamily="34" charset="0"/>
                  <a:cs typeface="Arial" panose="020B0604020202020204" pitchFamily="34" charset="0"/>
                </a:rPr>
                <a:t>One codon matrix → three position matrices</a:t>
              </a:r>
              <a:endParaRPr lang="zh-CN" altLang="en-US"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5456" y="6967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split_codon_seqence_alignment.py</a:t>
              </a:r>
              <a:endParaRPr lang="zh-CN" altLang="en-US" sz="5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5456" y="5963"/>
              <a:ext cx="5147" cy="1270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9" name="右箭头 28"/>
            <p:cNvSpPr/>
            <p:nvPr/>
          </p:nvSpPr>
          <p:spPr>
            <a:xfrm>
              <a:off x="7363" y="6603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42" name="组合 41"/>
          <p:cNvGrpSpPr/>
          <p:nvPr/>
        </p:nvGrpSpPr>
        <p:grpSpPr>
          <a:xfrm>
            <a:off x="3495040" y="1037590"/>
            <a:ext cx="3275965" cy="847725"/>
            <a:chOff x="5444" y="5898"/>
            <a:chExt cx="5159" cy="1335"/>
          </a:xfrm>
        </p:grpSpPr>
        <p:sp>
          <p:nvSpPr>
            <p:cNvPr id="43" name="文本框 42"/>
            <p:cNvSpPr txBox="1"/>
            <p:nvPr/>
          </p:nvSpPr>
          <p:spPr>
            <a:xfrm>
              <a:off x="5591" y="6359"/>
              <a:ext cx="1818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Codon alignment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Seq1: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GCT GCA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ATG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GCG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TGG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CCT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endParaRPr lang="en-US" altLang="zh-CN" sz="400">
                <a:latin typeface="Liberation Mono" panose="02070409020205020404" charset="0"/>
                <a:cs typeface="Liberation Mono" panose="020704090202050204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Seq2: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GCC GCG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TGG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GCA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AAA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CCC</a:t>
              </a:r>
              <a:endParaRPr lang="en-US" altLang="zh-CN" sz="400">
                <a:latin typeface="Liberation Mono" panose="02070409020205020404" charset="0"/>
                <a:cs typeface="Liberation Mono" panose="020704090202050204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Seq3: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GCA GCT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ATG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GCC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CAA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CCG</a:t>
              </a:r>
              <a:endParaRPr lang="en-US" altLang="zh-CN" sz="400">
                <a:solidFill>
                  <a:srgbClr val="E68822"/>
                </a:solidFill>
                <a:latin typeface="Liberation Mono" panose="02070409020205020404" charset="0"/>
                <a:cs typeface="Liberation Mono" panose="02070409020205020404" charset="0"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7914" y="6359"/>
              <a:ext cx="2538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Extract only third-position sites</a:t>
              </a:r>
              <a:endParaRPr lang="en-US" altLang="zh-CN" sz="400"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Seq1: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TAGT</a:t>
              </a:r>
              <a:endParaRPr lang="en-US" altLang="zh-CN" sz="400">
                <a:solidFill>
                  <a:srgbClr val="E68822"/>
                </a:solidFill>
                <a:latin typeface="Liberation Mono" panose="02070409020205020404" charset="0"/>
                <a:cs typeface="Liberation Mono" panose="020704090202050204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Seq2: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 CGAC</a:t>
              </a:r>
              <a:endParaRPr lang="en-US" altLang="zh-CN" sz="400">
                <a:latin typeface="Liberation Mono" panose="02070409020205020404" charset="0"/>
                <a:cs typeface="Liberation Mono" panose="020704090202050204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Seq3: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ATCG</a:t>
              </a:r>
              <a:endParaRPr lang="en-US" altLang="zh-CN" sz="400">
                <a:solidFill>
                  <a:srgbClr val="E68822"/>
                </a:solidFill>
                <a:latin typeface="Liberation Mono" panose="02070409020205020404" charset="0"/>
                <a:cs typeface="Liberation Mono" panose="02070409020205020404" charset="0"/>
              </a:endParaRPr>
            </a:p>
          </p:txBody>
        </p:sp>
        <p:sp>
          <p:nvSpPr>
            <p:cNvPr id="45" name="文本框 44"/>
            <p:cNvSpPr txBox="1"/>
            <p:nvPr/>
          </p:nvSpPr>
          <p:spPr>
            <a:xfrm>
              <a:off x="5444" y="5898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sz="1000" b="1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sz="500" b="1">
                  <a:latin typeface="Arial" panose="020B0604020202020204" pitchFamily="34" charset="0"/>
                  <a:cs typeface="Arial" panose="020B0604020202020204" pitchFamily="34" charset="0"/>
                </a:rPr>
                <a:t>Extract four-fold degenerate third positions</a:t>
              </a:r>
              <a:endParaRPr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5456" y="6967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extract_4-fold_degenerated_sites.py</a:t>
              </a:r>
              <a:endParaRPr lang="zh-CN" altLang="en-US" sz="5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矩形 46"/>
            <p:cNvSpPr/>
            <p:nvPr/>
          </p:nvSpPr>
          <p:spPr>
            <a:xfrm>
              <a:off x="5456" y="5922"/>
              <a:ext cx="5147" cy="1311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8" name="右箭头 47"/>
            <p:cNvSpPr/>
            <p:nvPr/>
          </p:nvSpPr>
          <p:spPr>
            <a:xfrm>
              <a:off x="7566" y="6584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49" name="组合 48"/>
          <p:cNvGrpSpPr/>
          <p:nvPr/>
        </p:nvGrpSpPr>
        <p:grpSpPr>
          <a:xfrm>
            <a:off x="83185" y="3875405"/>
            <a:ext cx="3274695" cy="855345"/>
            <a:chOff x="5446" y="5886"/>
            <a:chExt cx="5157" cy="1347"/>
          </a:xfrm>
        </p:grpSpPr>
        <p:sp>
          <p:nvSpPr>
            <p:cNvPr id="50" name="文本框 49"/>
            <p:cNvSpPr txBox="1"/>
            <p:nvPr/>
          </p:nvSpPr>
          <p:spPr>
            <a:xfrm>
              <a:off x="5591" y="6359"/>
              <a:ext cx="2461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Codon alignment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Seq1: ATG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---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ATT TGC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NNN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GCA ATG GCG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TNG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CCT </a:t>
              </a:r>
              <a:endParaRPr lang="en-US" altLang="zh-CN" sz="400">
                <a:latin typeface="Liberation Mono" panose="02070409020205020404" charset="0"/>
                <a:cs typeface="Liberation Mono" panose="020704090202050204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Seq2: ATG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---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ATC TGC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GCC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GCG TGG GCA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AAN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CCC </a:t>
              </a:r>
              <a:endParaRPr lang="en-US" altLang="zh-CN" sz="400">
                <a:latin typeface="Liberation Mono" panose="02070409020205020404" charset="0"/>
                <a:cs typeface="Liberation Mono" panose="020704090202050204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Seq3: ATG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GGG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ATT TGC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NNN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GCT ATG GCC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NAA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CCG </a:t>
              </a:r>
              <a:endParaRPr lang="en-US" altLang="zh-CN" sz="400">
                <a:latin typeface="Liberation Mono" panose="02070409020205020404" charset="0"/>
                <a:cs typeface="Liberation Mono" panose="02070409020205020404" charset="0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8537" y="6366"/>
              <a:ext cx="1925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Trimmed codon alignment 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rPr>
                <a:t>Seq1: ATG ATT TGC GCA ATG GCG CCT 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rPr>
                <a:t>Seq2: ATG ATC TGC GCG TGG GCA CCC 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rPr>
                <a:t>Seq3: ATG ATT TGC GCT ATG GCC CCG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</a:endParaRP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5446" y="5900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sz="1000" b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sz="500" b="1">
                  <a:latin typeface="Arial" panose="020B0604020202020204" pitchFamily="34" charset="0"/>
                  <a:cs typeface="Arial" panose="020B0604020202020204" pitchFamily="34" charset="0"/>
                </a:rPr>
                <a:t>Trim poorly aligned columns</a:t>
              </a:r>
              <a:endParaRPr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5456" y="6967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trimAlnSeq.py</a:t>
              </a:r>
              <a:endParaRPr lang="zh-CN" altLang="en-US" sz="5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矩形 53"/>
            <p:cNvSpPr/>
            <p:nvPr/>
          </p:nvSpPr>
          <p:spPr>
            <a:xfrm>
              <a:off x="5456" y="5886"/>
              <a:ext cx="5147" cy="1347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5" name="右箭头 54"/>
            <p:cNvSpPr/>
            <p:nvPr/>
          </p:nvSpPr>
          <p:spPr>
            <a:xfrm>
              <a:off x="8214" y="6584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175" name="组合 174"/>
          <p:cNvGrpSpPr/>
          <p:nvPr/>
        </p:nvGrpSpPr>
        <p:grpSpPr>
          <a:xfrm>
            <a:off x="3481070" y="1997710"/>
            <a:ext cx="3301365" cy="1241425"/>
            <a:chOff x="5404" y="3326"/>
            <a:chExt cx="5199" cy="1955"/>
          </a:xfrm>
        </p:grpSpPr>
        <p:grpSp>
          <p:nvGrpSpPr>
            <p:cNvPr id="77" name="组合 76"/>
            <p:cNvGrpSpPr/>
            <p:nvPr/>
          </p:nvGrpSpPr>
          <p:grpSpPr>
            <a:xfrm>
              <a:off x="5404" y="3326"/>
              <a:ext cx="5199" cy="1955"/>
              <a:chOff x="5434" y="5862"/>
              <a:chExt cx="5199" cy="1955"/>
            </a:xfrm>
          </p:grpSpPr>
          <p:sp>
            <p:nvSpPr>
              <p:cNvPr id="78" name="文本框 77"/>
              <p:cNvSpPr txBox="1"/>
              <p:nvPr/>
            </p:nvSpPr>
            <p:spPr>
              <a:xfrm>
                <a:off x="5591" y="6335"/>
                <a:ext cx="1571" cy="72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Codon alignment of FASTA format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&gt;Seq1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GCTGCAATGGCGTGGCCT 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&gt;Seq2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GCCGCGTGGGCAAAACCC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</p:txBody>
          </p:sp>
          <p:sp>
            <p:nvSpPr>
              <p:cNvPr id="80" name="文本框 79"/>
              <p:cNvSpPr txBox="1"/>
              <p:nvPr/>
            </p:nvSpPr>
            <p:spPr>
              <a:xfrm>
                <a:off x="5434" y="5862"/>
                <a:ext cx="4100" cy="5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l"/>
                <a:r>
                  <a:rPr lang="en-US" sz="1000" b="1">
                    <a:latin typeface="Arial" panose="020B0604020202020204" pitchFamily="34" charset="0"/>
                    <a:cs typeface="Arial" panose="020B0604020202020204" pitchFamily="34" charset="0"/>
                  </a:rPr>
                  <a:t>I</a:t>
                </a:r>
                <a:endParaRPr sz="10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l"/>
                <a:r>
                  <a:rPr sz="500" b="1">
                    <a:latin typeface="Arial" panose="020B0604020202020204" pitchFamily="34" charset="0"/>
                    <a:cs typeface="Arial" panose="020B0604020202020204" pitchFamily="34" charset="0"/>
                  </a:rPr>
                  <a:t>Convert a FASTA alignment to </a:t>
                </a:r>
                <a:r>
                  <a:rPr lang="en-US" sz="500" b="1">
                    <a:latin typeface="Arial" panose="020B0604020202020204" pitchFamily="34" charset="0"/>
                    <a:cs typeface="Arial" panose="020B0604020202020204" pitchFamily="34" charset="0"/>
                  </a:rPr>
                  <a:t>AXT, </a:t>
                </a:r>
                <a:r>
                  <a:rPr lang="en-US" altLang="zh-CN" sz="5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PHYLIP, and </a:t>
                </a:r>
                <a:r>
                  <a:rPr sz="500" b="1">
                    <a:latin typeface="Arial" panose="020B0604020202020204" pitchFamily="34" charset="0"/>
                    <a:cs typeface="Arial" panose="020B0604020202020204" pitchFamily="34" charset="0"/>
                  </a:rPr>
                  <a:t>NEXUS format</a:t>
                </a:r>
                <a:r>
                  <a:rPr lang="en-US" sz="500" b="1">
                    <a:latin typeface="Arial" panose="020B0604020202020204" pitchFamily="34" charset="0"/>
                    <a:cs typeface="Arial" panose="020B0604020202020204" pitchFamily="34" charset="0"/>
                  </a:rPr>
                  <a:t> alignment</a:t>
                </a:r>
                <a:endParaRPr sz="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1" name="文本框 80"/>
              <p:cNvSpPr txBox="1"/>
              <p:nvPr/>
            </p:nvSpPr>
            <p:spPr>
              <a:xfrm>
                <a:off x="5524" y="7250"/>
                <a:ext cx="1030" cy="506"/>
              </a:xfrm>
              <a:prstGeom prst="rect">
                <a:avLst/>
              </a:prstGeom>
              <a:noFill/>
            </p:spPr>
            <p:txBody>
              <a:bodyPr wrap="square" rtlCol="0" anchor="t">
                <a:noAutofit/>
              </a:bodyPr>
              <a:p>
                <a:r>
                  <a:rPr lang="zh-CN" altLang="en-US" sz="50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fasta2axt.py</a:t>
                </a:r>
                <a:endParaRPr lang="zh-CN" altLang="en-US" sz="5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zh-CN" altLang="en-US" sz="50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fasta2</a:t>
                </a:r>
                <a:r>
                  <a:rPr lang="en-US" altLang="zh-CN" sz="50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phy</a:t>
                </a:r>
                <a:r>
                  <a:rPr lang="zh-CN" altLang="en-US" sz="50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.py</a:t>
                </a:r>
                <a:endParaRPr lang="zh-CN" altLang="en-US" sz="5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zh-CN" altLang="en-US" sz="50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fasta2</a:t>
                </a:r>
                <a:r>
                  <a:rPr lang="en-US" altLang="zh-CN" sz="50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nex</a:t>
                </a:r>
                <a:r>
                  <a:rPr lang="zh-CN" altLang="en-US" sz="50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.py</a:t>
                </a:r>
                <a:endParaRPr lang="zh-CN" altLang="en-US" sz="5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2" name="矩形 81"/>
              <p:cNvSpPr/>
              <p:nvPr/>
            </p:nvSpPr>
            <p:spPr>
              <a:xfrm>
                <a:off x="5486" y="5874"/>
                <a:ext cx="5147" cy="1943"/>
              </a:xfrm>
              <a:prstGeom prst="rect">
                <a:avLst/>
              </a:prstGeom>
              <a:noFill/>
              <a:ln w="6350">
                <a:solidFill>
                  <a:schemeClr val="bg1">
                    <a:lumMod val="85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bg1">
                        <a:lumMod val="85000"/>
                      </a:schemeClr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grpSp>
          <p:nvGrpSpPr>
            <p:cNvPr id="174" name="组合 173"/>
            <p:cNvGrpSpPr/>
            <p:nvPr/>
          </p:nvGrpSpPr>
          <p:grpSpPr>
            <a:xfrm>
              <a:off x="7223" y="3799"/>
              <a:ext cx="3215" cy="1421"/>
              <a:chOff x="7223" y="3799"/>
              <a:chExt cx="3215" cy="1421"/>
            </a:xfrm>
          </p:grpSpPr>
          <p:sp>
            <p:nvSpPr>
              <p:cNvPr id="84" name="文本框 83"/>
              <p:cNvSpPr txBox="1"/>
              <p:nvPr/>
            </p:nvSpPr>
            <p:spPr>
              <a:xfrm>
                <a:off x="8884" y="3799"/>
                <a:ext cx="1554" cy="14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Codon alignment of NEXUS format</a:t>
                </a:r>
                <a:endParaRPr lang="en-US" altLang="zh-CN" sz="40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#NEXUS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begin data;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dimensions ntax=2 nchar=18;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format datatype=dna missing=? gap=-;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matrix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Seq1 GCTGCAATGGCGTGGCCT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Seq2 GCCGCGTGGGCAAAACCC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;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end;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</p:txBody>
          </p:sp>
          <p:sp>
            <p:nvSpPr>
              <p:cNvPr id="85" name="文本框 84"/>
              <p:cNvSpPr txBox="1"/>
              <p:nvPr/>
            </p:nvSpPr>
            <p:spPr>
              <a:xfrm>
                <a:off x="7223" y="4624"/>
                <a:ext cx="1554" cy="59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no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Codon alignment of PHYLIP format</a:t>
                </a:r>
                <a:endParaRPr lang="en-US" altLang="zh-CN" sz="40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2 18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Seq1  GCTGCAATGGCGTGGCCT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Seq2  GCCGCGTGGGCAAAACCC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</p:txBody>
          </p:sp>
          <p:sp>
            <p:nvSpPr>
              <p:cNvPr id="86" name="文本框 85"/>
              <p:cNvSpPr txBox="1"/>
              <p:nvPr/>
            </p:nvSpPr>
            <p:spPr>
              <a:xfrm>
                <a:off x="7223" y="3799"/>
                <a:ext cx="1554" cy="72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no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Codon alignment of AXT format</a:t>
                </a:r>
                <a:endParaRPr lang="en-US" altLang="zh-CN" sz="40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&gt;Seq1|Seq2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GCTGCAATGGCGTGGCCT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GCCGCGTGGGCAAAACCC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</p:txBody>
          </p:sp>
        </p:grpSp>
      </p:grpSp>
      <p:grpSp>
        <p:nvGrpSpPr>
          <p:cNvPr id="173" name="组合 172"/>
          <p:cNvGrpSpPr/>
          <p:nvPr/>
        </p:nvGrpSpPr>
        <p:grpSpPr>
          <a:xfrm>
            <a:off x="3495040" y="3336925"/>
            <a:ext cx="3272790" cy="855980"/>
            <a:chOff x="5554" y="5523"/>
            <a:chExt cx="5154" cy="1348"/>
          </a:xfrm>
        </p:grpSpPr>
        <p:grpSp>
          <p:nvGrpSpPr>
            <p:cNvPr id="87" name="组合 86"/>
            <p:cNvGrpSpPr/>
            <p:nvPr/>
          </p:nvGrpSpPr>
          <p:grpSpPr>
            <a:xfrm>
              <a:off x="5554" y="5523"/>
              <a:ext cx="5154" cy="1328"/>
              <a:chOff x="5449" y="5860"/>
              <a:chExt cx="5154" cy="1328"/>
            </a:xfrm>
          </p:grpSpPr>
          <p:sp>
            <p:nvSpPr>
              <p:cNvPr id="88" name="文本框 87"/>
              <p:cNvSpPr txBox="1"/>
              <p:nvPr/>
            </p:nvSpPr>
            <p:spPr>
              <a:xfrm>
                <a:off x="5591" y="6335"/>
                <a:ext cx="2253" cy="60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Multiple results from codon alignment of two sequences</a:t>
                </a:r>
                <a:endPara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codon1.fasta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codon2.fasta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codon3.fasta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</p:txBody>
          </p:sp>
          <p:sp>
            <p:nvSpPr>
              <p:cNvPr id="89" name="文本框 88"/>
              <p:cNvSpPr txBox="1"/>
              <p:nvPr/>
            </p:nvSpPr>
            <p:spPr>
              <a:xfrm>
                <a:off x="5449" y="5860"/>
                <a:ext cx="4100" cy="5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l"/>
                <a:r>
                  <a:rPr lang="en-US" sz="1000" b="1">
                    <a:latin typeface="Arial" panose="020B0604020202020204" pitchFamily="34" charset="0"/>
                    <a:cs typeface="Arial" panose="020B0604020202020204" pitchFamily="34" charset="0"/>
                  </a:rPr>
                  <a:t>J</a:t>
                </a:r>
                <a:endParaRPr sz="10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l"/>
                <a:r>
                  <a:rPr sz="500" b="1">
                    <a:latin typeface="Arial" panose="020B0604020202020204" pitchFamily="34" charset="0"/>
                    <a:cs typeface="Arial" panose="020B0604020202020204" pitchFamily="34" charset="0"/>
                  </a:rPr>
                  <a:t>Calculate raw and HKY-corrected 4DTV from codon FASTA alignments</a:t>
                </a:r>
                <a:endParaRPr sz="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1" name="矩形 90"/>
              <p:cNvSpPr/>
              <p:nvPr/>
            </p:nvSpPr>
            <p:spPr>
              <a:xfrm>
                <a:off x="5456" y="5896"/>
                <a:ext cx="5147" cy="1292"/>
              </a:xfrm>
              <a:prstGeom prst="rect">
                <a:avLst/>
              </a:prstGeom>
              <a:noFill/>
              <a:ln w="6350">
                <a:solidFill>
                  <a:schemeClr val="bg1">
                    <a:lumMod val="85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bg1">
                        <a:lumMod val="85000"/>
                      </a:schemeClr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167" name="文本框 166"/>
            <p:cNvSpPr txBox="1"/>
            <p:nvPr/>
          </p:nvSpPr>
          <p:spPr>
            <a:xfrm>
              <a:off x="8315" y="5998"/>
              <a:ext cx="2251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no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Name       Seq1   Seq2   R</a:t>
              </a:r>
              <a:r>
                <a:rPr lang="zh-CN" altLang="en-US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aw_4dtv</a:t>
              </a:r>
              <a:r>
                <a:rPr lang="en-US" altLang="zh-CN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    C</a:t>
              </a:r>
              <a:r>
                <a:rPr lang="zh-CN" altLang="en-US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orrected_4dtv</a:t>
              </a:r>
              <a:r>
                <a:rPr lang="en-US" altLang="zh-CN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r>
                <a:rPr lang="en-US" altLang="zh-CN" sz="400">
                  <a:sym typeface="+mn-ea"/>
                </a:rPr>
                <a:t>    </a:t>
              </a:r>
              <a:endParaRPr lang="en-US" altLang="zh-CN" sz="400"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codon1   S1   S2    XX          XX 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codon2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  S1   S2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   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XX          XX 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codon3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  S1   S2    XX          XX 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</p:txBody>
        </p:sp>
        <p:sp>
          <p:nvSpPr>
            <p:cNvPr id="168" name="右箭头 167"/>
            <p:cNvSpPr/>
            <p:nvPr/>
          </p:nvSpPr>
          <p:spPr>
            <a:xfrm>
              <a:off x="8046" y="6243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0" name="文本框 169"/>
            <p:cNvSpPr txBox="1"/>
            <p:nvPr/>
          </p:nvSpPr>
          <p:spPr>
            <a:xfrm>
              <a:off x="5554" y="6606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calulate_4dtv_and_correction.py</a:t>
              </a:r>
              <a:endParaRPr lang="zh-CN" altLang="en-US" sz="5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grpSp>
        <p:nvGrpSpPr>
          <p:cNvPr id="262" name="组合 261"/>
          <p:cNvGrpSpPr/>
          <p:nvPr/>
        </p:nvGrpSpPr>
        <p:grpSpPr>
          <a:xfrm>
            <a:off x="3495040" y="5217160"/>
            <a:ext cx="3274695" cy="1913255"/>
            <a:chOff x="169" y="7050"/>
            <a:chExt cx="5157" cy="3013"/>
          </a:xfrm>
        </p:grpSpPr>
        <p:grpSp>
          <p:nvGrpSpPr>
            <p:cNvPr id="75" name="组合 74"/>
            <p:cNvGrpSpPr/>
            <p:nvPr/>
          </p:nvGrpSpPr>
          <p:grpSpPr>
            <a:xfrm>
              <a:off x="169" y="7050"/>
              <a:ext cx="5079" cy="3013"/>
              <a:chOff x="69" y="3670"/>
              <a:chExt cx="5079" cy="3013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215" y="4134"/>
                <a:ext cx="4933" cy="60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Gene1 codon alignment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 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Gene2 codon alignment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 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Gene3 codon alignment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 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Gene4 codon alignment</a:t>
                </a:r>
                <a:endPara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endParaRPr>
              </a:p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Seq1: </a:t>
                </a:r>
                <a:r>
                  <a:rPr lang="en-US" altLang="zh-CN" sz="400">
                    <a:solidFill>
                      <a:srgbClr val="E68822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ATG --- TGC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     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Seq1: </a:t>
                </a:r>
                <a:r>
                  <a:rPr lang="en-US" altLang="zh-CN" sz="400">
                    <a:solidFill>
                      <a:srgbClr val="0F5FBD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GGA CCT AAA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     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Seq1: 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TTA --- GGC       </a:t>
                </a: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Seq1: GCT GCA GGC</a:t>
                </a:r>
                <a:endPara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Seq2: </a:t>
                </a:r>
                <a:r>
                  <a:rPr lang="en-US" altLang="zh-CN" sz="400">
                    <a:solidFill>
                      <a:srgbClr val="E68822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ATG AAA TGC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     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Seq2: </a:t>
                </a:r>
                <a:r>
                  <a:rPr lang="en-US" altLang="zh-CN" sz="400">
                    <a:solidFill>
                      <a:srgbClr val="0F5FBD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GGA CCA AAA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     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Seq2: 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TTA GGT GCC       </a:t>
                </a: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Seq2: GCA GCT GCC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Seq3: </a:t>
                </a:r>
                <a:r>
                  <a:rPr lang="en-US" altLang="zh-CN" sz="400">
                    <a:solidFill>
                      <a:srgbClr val="E68822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ATG AAA TGC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     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Seq3: </a:t>
                </a:r>
                <a:r>
                  <a:rPr lang="en-US" altLang="zh-CN" sz="400">
                    <a:solidFill>
                      <a:srgbClr val="0F5FBD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GGA CCA AAA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     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Seq3: 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TTA GGT GCC       </a:t>
                </a: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Seq3: missing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endParaRPr>
              </a:p>
            </p:txBody>
          </p:sp>
          <p:sp>
            <p:nvSpPr>
              <p:cNvPr id="34" name="文本框 33"/>
              <p:cNvSpPr txBox="1"/>
              <p:nvPr/>
            </p:nvSpPr>
            <p:spPr>
              <a:xfrm>
                <a:off x="69" y="3670"/>
                <a:ext cx="4100" cy="5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l"/>
                <a:r>
                  <a:rPr lang="en-US" sz="1000" b="1">
                    <a:latin typeface="Arial" panose="020B0604020202020204" pitchFamily="34" charset="0"/>
                    <a:cs typeface="Arial" panose="020B0604020202020204" pitchFamily="34" charset="0"/>
                  </a:rPr>
                  <a:t>L</a:t>
                </a:r>
                <a:endParaRPr lang="en-US" sz="10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l"/>
                <a:r>
                  <a:rPr sz="500" b="1">
                    <a:latin typeface="Arial" panose="020B0604020202020204" pitchFamily="34" charset="0"/>
                    <a:cs typeface="Arial" panose="020B0604020202020204" pitchFamily="34" charset="0"/>
                  </a:rPr>
                  <a:t>Concatenate genes into a supermatrix</a:t>
                </a:r>
                <a:endParaRPr sz="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62" y="5816"/>
                <a:ext cx="4982" cy="26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r>
                  <a:rPr lang="zh-CN" altLang="en-US" sz="500">
                    <a:latin typeface="Arial" panose="020B0604020202020204" pitchFamily="34" charset="0"/>
                    <a:cs typeface="Arial" panose="020B0604020202020204" pitchFamily="34" charset="0"/>
                  </a:rPr>
                  <a:t>get_supergenes.py</a:t>
                </a:r>
                <a:endParaRPr lang="zh-CN" altLang="en-US" sz="5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0" name="右箭头 39"/>
              <p:cNvSpPr/>
              <p:nvPr/>
            </p:nvSpPr>
            <p:spPr>
              <a:xfrm rot="5400000">
                <a:off x="999" y="4889"/>
                <a:ext cx="225" cy="119"/>
              </a:xfrm>
              <a:prstGeom prst="rightArrow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1" name="右箭头 40"/>
              <p:cNvSpPr/>
              <p:nvPr/>
            </p:nvSpPr>
            <p:spPr>
              <a:xfrm rot="5400000">
                <a:off x="3670" y="4889"/>
                <a:ext cx="225" cy="119"/>
              </a:xfrm>
              <a:prstGeom prst="rightArrow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73" name="文本框 72"/>
              <p:cNvSpPr txBox="1"/>
              <p:nvPr/>
            </p:nvSpPr>
            <p:spPr>
              <a:xfrm>
                <a:off x="96" y="6418"/>
                <a:ext cx="4982" cy="26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r>
                  <a:rPr lang="zh-CN" altLang="en-US" sz="50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get_supergenes.py</a:t>
                </a:r>
                <a:endParaRPr lang="zh-CN" altLang="en-US" sz="5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215" y="5129"/>
                <a:ext cx="4932" cy="128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noAutofit/>
              </a:bodyPr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Supermatrix codon alignment by skip-gene model              </a:t>
                </a: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Supermatrix codon alignment by pad-gaps model</a:t>
                </a:r>
                <a:endPara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Seq1: </a:t>
                </a:r>
                <a:r>
                  <a:rPr lang="en-US" altLang="zh-CN" sz="400">
                    <a:solidFill>
                      <a:srgbClr val="E68822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ATG --- TGC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F5FBD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GGA CCT AAA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TTA --- GGC 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Seq1: </a:t>
                </a:r>
                <a:r>
                  <a:rPr lang="en-US" altLang="zh-CN" sz="400">
                    <a:solidFill>
                      <a:srgbClr val="E68822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ATG --- TGC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F5FBD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GGA CCT AAA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TTA --- GGC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GCT GCA GGC</a:t>
                </a:r>
                <a:endPara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endParaRPr>
              </a:p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Seq2: </a:t>
                </a:r>
                <a:r>
                  <a:rPr lang="en-US" altLang="zh-CN" sz="400">
                    <a:solidFill>
                      <a:srgbClr val="E68822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ATG AAA TGC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F5FBD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GGA CCA AAA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TTA GGT GCC 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Seq2: </a:t>
                </a:r>
                <a:r>
                  <a:rPr lang="en-US" altLang="zh-CN" sz="400">
                    <a:solidFill>
                      <a:srgbClr val="E68822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ATG AAA TGC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F5FBD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GGA CCA AAA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TTA GGT GCC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GCA GCT GCC</a:t>
                </a:r>
                <a:endPara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Seq3: </a:t>
                </a:r>
                <a:r>
                  <a:rPr lang="en-US" altLang="zh-CN" sz="400">
                    <a:solidFill>
                      <a:srgbClr val="E68822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ATG AAA TGC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F5FBD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GGA CCA AAA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TTA GGT GCC 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Seq3: </a:t>
                </a:r>
                <a:r>
                  <a:rPr lang="en-US" altLang="zh-CN" sz="400">
                    <a:solidFill>
                      <a:srgbClr val="E68822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ATG AAA TGC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F5FBD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GGA CCA AAA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TTA GGT GCC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--- --- ---</a:t>
                </a:r>
                <a:endPara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endPara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Partition                                                                                 </a:t>
                </a: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Partition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Gene1: 1-9                                                                            </a:t>
                </a: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Gene1: 1-9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Gene2: 10-18                                                                        </a:t>
                </a: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Gene2: 10-18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Gene3: 19-27                                                                        </a:t>
                </a: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Gene3: 19-27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                                                                                              Gene4: 28-36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sp>
          <p:nvSpPr>
            <p:cNvPr id="176" name="矩形 175"/>
            <p:cNvSpPr/>
            <p:nvPr/>
          </p:nvSpPr>
          <p:spPr>
            <a:xfrm>
              <a:off x="179" y="7080"/>
              <a:ext cx="5147" cy="2983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48" name="组合 247"/>
          <p:cNvGrpSpPr/>
          <p:nvPr/>
        </p:nvGrpSpPr>
        <p:grpSpPr>
          <a:xfrm>
            <a:off x="3495040" y="4287520"/>
            <a:ext cx="3274695" cy="828675"/>
            <a:chOff x="169" y="10388"/>
            <a:chExt cx="5157" cy="1305"/>
          </a:xfrm>
        </p:grpSpPr>
        <p:sp>
          <p:nvSpPr>
            <p:cNvPr id="224" name="文本框 223"/>
            <p:cNvSpPr txBox="1"/>
            <p:nvPr/>
          </p:nvSpPr>
          <p:spPr>
            <a:xfrm>
              <a:off x="317" y="10846"/>
              <a:ext cx="2325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Supermatrix codon alignment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Seq1: ATG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---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TGC GGA CCT AAA TTA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NNN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GGC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Seq2: ATG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---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TGC GGA CCA AAA TTA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NNN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GCC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Seq3: ATG AAA TGC GGA CCA AAA TTA GGT GCC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</p:txBody>
        </p:sp>
        <p:sp>
          <p:nvSpPr>
            <p:cNvPr id="225" name="文本框 224"/>
            <p:cNvSpPr txBox="1"/>
            <p:nvPr/>
          </p:nvSpPr>
          <p:spPr>
            <a:xfrm>
              <a:off x="2981" y="10846"/>
              <a:ext cx="2263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Supermatrix codon alignment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Seq1: ATG </a:t>
              </a:r>
              <a:r>
                <a:rPr lang="en-US" altLang="zh-CN" sz="400" strike="sngStrike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---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TGC GGA CCT AAA TTA </a:t>
              </a:r>
              <a:r>
                <a:rPr lang="en-US" altLang="zh-CN" sz="400" strike="sngStrike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NNN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GGC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Seq2: ATG </a:t>
              </a:r>
              <a:r>
                <a:rPr lang="en-US" altLang="zh-CN" sz="400" strike="sngStrike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---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TGC GGA CCA AAA TTA </a:t>
              </a:r>
              <a:r>
                <a:rPr lang="en-US" altLang="zh-CN" sz="400" strike="sngStrike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NNN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GCC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 strike="sngStrike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Seq3: ATG AAA TGC GGA CCA AAA TTA GGT GCC</a:t>
              </a:r>
              <a:endParaRPr lang="en-US" altLang="zh-CN" sz="400" strike="sngStrike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</p:txBody>
        </p:sp>
        <p:sp>
          <p:nvSpPr>
            <p:cNvPr id="227" name="右箭头 226"/>
            <p:cNvSpPr/>
            <p:nvPr/>
          </p:nvSpPr>
          <p:spPr>
            <a:xfrm>
              <a:off x="2704" y="11090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8" name="文本框 227"/>
            <p:cNvSpPr txBox="1"/>
            <p:nvPr/>
          </p:nvSpPr>
          <p:spPr>
            <a:xfrm>
              <a:off x="169" y="10388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sz="1000" b="1"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sz="500" b="1">
                  <a:latin typeface="Arial" panose="020B0604020202020204" pitchFamily="34" charset="0"/>
                  <a:cs typeface="Arial" panose="020B0604020202020204" pitchFamily="34" charset="0"/>
                </a:rPr>
                <a:t>Filter complete FASTA sequences (taxa) by quality and taxon lists</a:t>
              </a:r>
              <a:endParaRPr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0" name="矩形 229"/>
            <p:cNvSpPr/>
            <p:nvPr/>
          </p:nvSpPr>
          <p:spPr>
            <a:xfrm>
              <a:off x="179" y="10436"/>
              <a:ext cx="5147" cy="1257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1" name="文本框 230"/>
            <p:cNvSpPr txBox="1"/>
            <p:nvPr/>
          </p:nvSpPr>
          <p:spPr>
            <a:xfrm>
              <a:off x="179" y="11428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filter_sequences.py</a:t>
              </a:r>
              <a:endParaRPr lang="zh-CN" altLang="en-US" sz="5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9" name="组合 248"/>
          <p:cNvGrpSpPr/>
          <p:nvPr/>
        </p:nvGrpSpPr>
        <p:grpSpPr>
          <a:xfrm>
            <a:off x="66675" y="4914265"/>
            <a:ext cx="3291205" cy="1004570"/>
            <a:chOff x="137" y="11978"/>
            <a:chExt cx="5183" cy="1582"/>
          </a:xfrm>
        </p:grpSpPr>
        <p:sp>
          <p:nvSpPr>
            <p:cNvPr id="236" name="文本框 235"/>
            <p:cNvSpPr txBox="1"/>
            <p:nvPr/>
          </p:nvSpPr>
          <p:spPr>
            <a:xfrm>
              <a:off x="137" y="11978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sz="1000" b="1"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sz="500" b="1">
                  <a:latin typeface="Arial" panose="020B0604020202020204" pitchFamily="34" charset="0"/>
                  <a:cs typeface="Arial" panose="020B0604020202020204" pitchFamily="34" charset="0"/>
                </a:rPr>
                <a:t>Check FASTA alignment matrices and write pass/fail QC reports.</a:t>
              </a:r>
              <a:endParaRPr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7" name="矩形 236"/>
            <p:cNvSpPr/>
            <p:nvPr/>
          </p:nvSpPr>
          <p:spPr>
            <a:xfrm>
              <a:off x="173" y="12030"/>
              <a:ext cx="5147" cy="1529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8" name="文本框 237"/>
            <p:cNvSpPr txBox="1"/>
            <p:nvPr/>
          </p:nvSpPr>
          <p:spPr>
            <a:xfrm>
              <a:off x="179" y="13295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alignment_qc.py</a:t>
              </a:r>
              <a:endParaRPr lang="zh-CN" altLang="en-US" sz="5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0" name="文本框 239"/>
            <p:cNvSpPr txBox="1"/>
            <p:nvPr/>
          </p:nvSpPr>
          <p:spPr>
            <a:xfrm>
              <a:off x="2113" y="12455"/>
              <a:ext cx="1427" cy="8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Quality control indicators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Matrix l</a:t>
              </a:r>
              <a:r>
                <a:rPr lang="zh-CN" altLang="en-US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ength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N</a:t>
              </a:r>
              <a:r>
                <a:rPr lang="zh-CN" altLang="en-US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-ratio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, X-raito, Gap-raito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P</a:t>
              </a:r>
              <a:r>
                <a:rPr lang="zh-CN" altLang="en-US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arsimony-informative-sites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</a:t>
              </a:r>
              <a:r>
                <a:rPr lang="zh-CN" altLang="en-US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erminal-stop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codon 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I</a:t>
              </a:r>
              <a:r>
                <a:rPr lang="zh-CN" altLang="en-US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nternal-stop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codon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242" name="文本框 241"/>
            <p:cNvSpPr txBox="1"/>
            <p:nvPr/>
          </p:nvSpPr>
          <p:spPr>
            <a:xfrm>
              <a:off x="292" y="12455"/>
              <a:ext cx="1368" cy="8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Multiple alignment matrix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Matrix1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Matrix2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Matrix3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Matrix4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Matrix5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243" name="文本框 242"/>
            <p:cNvSpPr txBox="1"/>
            <p:nvPr/>
          </p:nvSpPr>
          <p:spPr>
            <a:xfrm>
              <a:off x="3993" y="12454"/>
              <a:ext cx="1220" cy="8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no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Pass list    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Fail list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Matrix1</a:t>
              </a: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     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Matrix2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Matrix4      Matrix3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Matrix5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245" name="右箭头 244"/>
            <p:cNvSpPr/>
            <p:nvPr/>
          </p:nvSpPr>
          <p:spPr>
            <a:xfrm>
              <a:off x="1764" y="12815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46" name="右箭头 245"/>
            <p:cNvSpPr/>
            <p:nvPr/>
          </p:nvSpPr>
          <p:spPr>
            <a:xfrm>
              <a:off x="3692" y="12815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61" name="组合 260"/>
          <p:cNvGrpSpPr/>
          <p:nvPr/>
        </p:nvGrpSpPr>
        <p:grpSpPr>
          <a:xfrm>
            <a:off x="93345" y="6096000"/>
            <a:ext cx="3277235" cy="1060450"/>
            <a:chOff x="5463" y="10397"/>
            <a:chExt cx="5161" cy="1670"/>
          </a:xfrm>
        </p:grpSpPr>
        <p:sp>
          <p:nvSpPr>
            <p:cNvPr id="251" name="文本框 250"/>
            <p:cNvSpPr txBox="1"/>
            <p:nvPr/>
          </p:nvSpPr>
          <p:spPr>
            <a:xfrm>
              <a:off x="5615" y="10872"/>
              <a:ext cx="1438" cy="95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Supermatrix codon alignment</a:t>
              </a:r>
              <a:endParaRPr lang="en-US" altLang="zh-CN" sz="400">
                <a:solidFill>
                  <a:schemeClr val="tx1"/>
                </a:solidFill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Seq1: ATG GCT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TGC GGA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Seq2: ATG GCC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TGC GGC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Seq3: ATG GCT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TGC GGC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Seq6: ATG GCG TGC GGA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Seq5: ATG GCT TGC GGC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Seq6: ATG GCA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TGC GGC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</p:txBody>
        </p:sp>
        <p:sp>
          <p:nvSpPr>
            <p:cNvPr id="253" name="右箭头 252"/>
            <p:cNvSpPr/>
            <p:nvPr/>
          </p:nvSpPr>
          <p:spPr>
            <a:xfrm>
              <a:off x="8752" y="11264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54" name="文本框 253"/>
            <p:cNvSpPr txBox="1"/>
            <p:nvPr/>
          </p:nvSpPr>
          <p:spPr>
            <a:xfrm>
              <a:off x="5463" y="10397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sz="1000" b="1">
                  <a:latin typeface="Arial" panose="020B0604020202020204" pitchFamily="34" charset="0"/>
                  <a:cs typeface="Arial" panose="020B0604020202020204" pitchFamily="34" charset="0"/>
                </a:rPr>
                <a:t>E</a:t>
              </a:r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sz="500" b="1">
                  <a:latin typeface="Arial" panose="020B0604020202020204" pitchFamily="34" charset="0"/>
                  <a:cs typeface="Arial" panose="020B0604020202020204" pitchFamily="34" charset="0"/>
                </a:rPr>
                <a:t>Rename FASTA sequence IDs for phylogenetic software</a:t>
              </a:r>
              <a:endParaRPr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5" name="矩形 254"/>
            <p:cNvSpPr/>
            <p:nvPr/>
          </p:nvSpPr>
          <p:spPr>
            <a:xfrm>
              <a:off x="5477" y="10404"/>
              <a:ext cx="5147" cy="1625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56" name="文本框 255"/>
            <p:cNvSpPr txBox="1"/>
            <p:nvPr/>
          </p:nvSpPr>
          <p:spPr>
            <a:xfrm>
              <a:off x="5482" y="11802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rename_taxa.py</a:t>
              </a:r>
              <a:endParaRPr lang="zh-CN" altLang="en-US" sz="5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7" name="文本框 256"/>
            <p:cNvSpPr txBox="1"/>
            <p:nvPr/>
          </p:nvSpPr>
          <p:spPr>
            <a:xfrm>
              <a:off x="9003" y="10872"/>
              <a:ext cx="1494" cy="95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Supermatrix codon alignment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Species1: ATG GCT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TGC GGA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Species2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: ATG GCC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TGC GGC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Species3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: ATG GCT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TGC GGC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Species4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: ATG GCG TGC GGA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Species5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: ATG GCT TGC GGC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Species6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: ATG GCA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TGC GGC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</p:txBody>
        </p:sp>
        <p:sp>
          <p:nvSpPr>
            <p:cNvPr id="258" name="文本框 257"/>
            <p:cNvSpPr txBox="1"/>
            <p:nvPr/>
          </p:nvSpPr>
          <p:spPr>
            <a:xfrm>
              <a:off x="7313" y="10872"/>
              <a:ext cx="1394" cy="95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Two-column ID mapping table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Seq1 Species1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Seq2 Species2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Seq3 Species3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Seq4 Species4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Seq5 Species5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Seq6 Species6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</p:txBody>
        </p:sp>
        <p:sp>
          <p:nvSpPr>
            <p:cNvPr id="259" name="加号 258"/>
            <p:cNvSpPr/>
            <p:nvPr/>
          </p:nvSpPr>
          <p:spPr>
            <a:xfrm>
              <a:off x="7078" y="11209"/>
              <a:ext cx="225" cy="201"/>
            </a:xfrm>
            <a:prstGeom prst="mathPlus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65" name="组合 264"/>
          <p:cNvGrpSpPr/>
          <p:nvPr/>
        </p:nvGrpSpPr>
        <p:grpSpPr>
          <a:xfrm>
            <a:off x="83185" y="2257425"/>
            <a:ext cx="3274060" cy="1412240"/>
            <a:chOff x="-87" y="3190"/>
            <a:chExt cx="5156" cy="2224"/>
          </a:xfrm>
        </p:grpSpPr>
        <p:grpSp>
          <p:nvGrpSpPr>
            <p:cNvPr id="74" name="组合 73"/>
            <p:cNvGrpSpPr/>
            <p:nvPr/>
          </p:nvGrpSpPr>
          <p:grpSpPr>
            <a:xfrm>
              <a:off x="-87" y="3190"/>
              <a:ext cx="5156" cy="2224"/>
              <a:chOff x="79" y="-27"/>
              <a:chExt cx="5156" cy="2224"/>
            </a:xfrm>
          </p:grpSpPr>
          <p:sp>
            <p:nvSpPr>
              <p:cNvPr id="57" name="文本框 56"/>
              <p:cNvSpPr txBox="1"/>
              <p:nvPr/>
            </p:nvSpPr>
            <p:spPr>
              <a:xfrm>
                <a:off x="227" y="436"/>
                <a:ext cx="1428" cy="60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Protein alignment (input)</a:t>
                </a:r>
                <a:endParaRPr lang="en-US" altLang="zh-CN" sz="40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</a:rPr>
                  <a:t>Seq1: M-ICXAMAXPAL</a:t>
                </a:r>
                <a:endParaRPr lang="en-US" altLang="zh-CN" sz="400"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</a:rPr>
                  <a:t>Seq2: M-ICAAWAXPAL</a:t>
                </a:r>
                <a:endParaRPr lang="en-US" altLang="zh-CN" sz="400"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</a:rPr>
                  <a:t>Seq3: MGICXAMAXPAL</a:t>
                </a:r>
                <a:endParaRPr lang="en-US" altLang="zh-CN" sz="400">
                  <a:latin typeface="Liberation Mono" panose="02070409020205020404" charset="0"/>
                  <a:cs typeface="Liberation Mono" panose="02070409020205020404" charset="0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2015" y="436"/>
                <a:ext cx="3080" cy="60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</a:rPr>
                  <a:t>Raw CDS sequences (input)</a:t>
                </a:r>
                <a:endParaRPr lang="en-US" altLang="zh-CN" sz="40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Seq1: ATG ATT TGC NNN GCA ATG GCG TNG CCT GCT TTA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Seq2: ATG ATC TGC GCC GCG TGG GCA AAN CCC GCA TTA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Seq3: ATG GGG ATT TGC NNN GCT ATG GCC NAA</a:t>
                </a: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CCG GCC TTG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79" y="-27"/>
                <a:ext cx="4100" cy="5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l"/>
                <a:r>
                  <a:rPr lang="en-US" sz="1000" b="1">
                    <a:latin typeface="Arial" panose="020B0604020202020204" pitchFamily="34" charset="0"/>
                    <a:cs typeface="Arial" panose="020B0604020202020204" pitchFamily="34" charset="0"/>
                  </a:rPr>
                  <a:t>B</a:t>
                </a:r>
                <a:r>
                  <a:rPr lang="en-US" sz="500" b="1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endParaRPr lang="en-US" sz="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l"/>
                <a:r>
                  <a:rPr sz="500" b="1">
                    <a:latin typeface="Arial" panose="020B0604020202020204" pitchFamily="34" charset="0"/>
                    <a:cs typeface="Arial" panose="020B0604020202020204" pitchFamily="34" charset="0"/>
                  </a:rPr>
                  <a:t>Back-translate a protein FASTA alignment to a codon alignment</a:t>
                </a:r>
                <a:endParaRPr sz="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79" y="1932"/>
                <a:ext cx="4982" cy="26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r>
                  <a:rPr lang="zh-CN" altLang="en-US" sz="50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AA2Codon.py</a:t>
                </a:r>
                <a:endParaRPr lang="zh-CN" altLang="en-US" sz="5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1" name="矩形 60"/>
              <p:cNvSpPr/>
              <p:nvPr/>
            </p:nvSpPr>
            <p:spPr>
              <a:xfrm>
                <a:off x="90" y="-26"/>
                <a:ext cx="5145" cy="2202"/>
              </a:xfrm>
              <a:prstGeom prst="rect">
                <a:avLst/>
              </a:prstGeom>
              <a:ln w="6350">
                <a:solidFill>
                  <a:schemeClr val="bg1">
                    <a:lumMod val="85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bg1">
                        <a:lumMod val="85000"/>
                      </a:schemeClr>
                    </a:solidFill>
                  </a14:hiddenFill>
                </a:ext>
              </a:extLst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64" name="文本框 63"/>
              <p:cNvSpPr txBox="1"/>
              <p:nvPr/>
            </p:nvSpPr>
            <p:spPr>
              <a:xfrm>
                <a:off x="215" y="1329"/>
                <a:ext cx="4881" cy="60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Codon alignment (output)</a:t>
                </a:r>
                <a:endParaRPr lang="en-US" altLang="zh-CN" sz="40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Seq1: ATG ---</a:t>
                </a: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 ATT TGC NNN GCA ATG GCG TNG CCT GCT TTA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Seq2: ATG --- ATC TGC GCC GCG TGG GCA AAN CCC GCA TTA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Seq3: ATG GGG ATT TGC NNN GCT ATG GCC NAA CCG GCC T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</a:rPr>
                  <a:t>TG</a:t>
                </a:r>
                <a:endParaRPr lang="en-US" altLang="zh-CN" sz="400">
                  <a:latin typeface="Liberation Mono" panose="02070409020205020404" charset="0"/>
                  <a:cs typeface="Liberation Mono" panose="02070409020205020404" charset="0"/>
                </a:endParaRPr>
              </a:p>
            </p:txBody>
          </p:sp>
        </p:grpSp>
        <p:sp>
          <p:nvSpPr>
            <p:cNvPr id="263" name="加号 262"/>
            <p:cNvSpPr/>
            <p:nvPr/>
          </p:nvSpPr>
          <p:spPr>
            <a:xfrm>
              <a:off x="1539" y="3857"/>
              <a:ext cx="225" cy="201"/>
            </a:xfrm>
            <a:prstGeom prst="mathPlus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64" name="右箭头 263"/>
            <p:cNvSpPr/>
            <p:nvPr/>
          </p:nvSpPr>
          <p:spPr>
            <a:xfrm rot="5400000">
              <a:off x="1539" y="4314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17" name="组合 16"/>
          <p:cNvGrpSpPr/>
          <p:nvPr/>
        </p:nvGrpSpPr>
        <p:grpSpPr>
          <a:xfrm>
            <a:off x="76835" y="7245985"/>
            <a:ext cx="6692900" cy="1911985"/>
            <a:chOff x="121" y="11411"/>
            <a:chExt cx="10540" cy="3011"/>
          </a:xfrm>
        </p:grpSpPr>
        <p:sp>
          <p:nvSpPr>
            <p:cNvPr id="177" name="矩形 176"/>
            <p:cNvSpPr/>
            <p:nvPr/>
          </p:nvSpPr>
          <p:spPr>
            <a:xfrm>
              <a:off x="2899" y="11739"/>
              <a:ext cx="5027" cy="2387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8" name="文本框 177"/>
            <p:cNvSpPr txBox="1"/>
            <p:nvPr/>
          </p:nvSpPr>
          <p:spPr>
            <a:xfrm>
              <a:off x="252" y="11873"/>
              <a:ext cx="2098" cy="22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no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Input FASTA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Choose sequenece type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--seqtype codon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--seqtype prot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--seqtype nucl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--seqtype pseudogene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Choose alignment software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--align-software </a:t>
              </a: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mafft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--align-software muscle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--align-software prank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--align-software clustalw2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Choose Trimming program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--trim-software trimAlnSeq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--trim-software </a:t>
              </a: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trimal  # -automated1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--notrim # Skip alignment trimming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grpSp>
          <p:nvGrpSpPr>
            <p:cNvPr id="189" name="组合 188"/>
            <p:cNvGrpSpPr/>
            <p:nvPr/>
          </p:nvGrpSpPr>
          <p:grpSpPr>
            <a:xfrm rot="0">
              <a:off x="2899" y="11739"/>
              <a:ext cx="1328" cy="738"/>
              <a:chOff x="2391" y="9036"/>
              <a:chExt cx="1328" cy="738"/>
            </a:xfrm>
          </p:grpSpPr>
          <p:sp>
            <p:nvSpPr>
              <p:cNvPr id="180" name="文本框 179"/>
              <p:cNvSpPr txBox="1"/>
              <p:nvPr/>
            </p:nvSpPr>
            <p:spPr>
              <a:xfrm>
                <a:off x="2391" y="9036"/>
                <a:ext cx="1328" cy="28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5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1. Codon workfow</a:t>
                </a:r>
                <a:endParaRPr lang="en-US" altLang="zh-CN" sz="5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188" name="文本框 187"/>
              <p:cNvSpPr txBox="1"/>
              <p:nvPr/>
            </p:nvSpPr>
            <p:spPr>
              <a:xfrm>
                <a:off x="2549" y="9244"/>
                <a:ext cx="1035" cy="53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indent="0" algn="ctr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CDS FASTA</a:t>
                </a:r>
                <a:b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</a:b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(Allowing stops) 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grpSp>
          <p:nvGrpSpPr>
            <p:cNvPr id="190" name="组合 189"/>
            <p:cNvGrpSpPr/>
            <p:nvPr/>
          </p:nvGrpSpPr>
          <p:grpSpPr>
            <a:xfrm rot="0">
              <a:off x="2899" y="12496"/>
              <a:ext cx="1328" cy="491"/>
              <a:chOff x="2391" y="9036"/>
              <a:chExt cx="1328" cy="491"/>
            </a:xfrm>
          </p:grpSpPr>
          <p:sp>
            <p:nvSpPr>
              <p:cNvPr id="191" name="文本框 190"/>
              <p:cNvSpPr txBox="1"/>
              <p:nvPr/>
            </p:nvSpPr>
            <p:spPr>
              <a:xfrm>
                <a:off x="2391" y="9036"/>
                <a:ext cx="1328" cy="28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5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2. Protein workfow</a:t>
                </a:r>
                <a:endParaRPr lang="en-US" altLang="zh-CN" sz="5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192" name="文本框 191"/>
              <p:cNvSpPr txBox="1"/>
              <p:nvPr/>
            </p:nvSpPr>
            <p:spPr>
              <a:xfrm>
                <a:off x="2549" y="9244"/>
                <a:ext cx="1035" cy="28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indent="0" algn="ctr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Protein FASTA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grpSp>
          <p:nvGrpSpPr>
            <p:cNvPr id="193" name="组合 192"/>
            <p:cNvGrpSpPr/>
            <p:nvPr/>
          </p:nvGrpSpPr>
          <p:grpSpPr>
            <a:xfrm rot="0">
              <a:off x="2899" y="12937"/>
              <a:ext cx="1385" cy="518"/>
              <a:chOff x="2391" y="8774"/>
              <a:chExt cx="1385" cy="518"/>
            </a:xfrm>
          </p:grpSpPr>
          <p:sp>
            <p:nvSpPr>
              <p:cNvPr id="194" name="文本框 193"/>
              <p:cNvSpPr txBox="1"/>
              <p:nvPr/>
            </p:nvSpPr>
            <p:spPr>
              <a:xfrm>
                <a:off x="2391" y="8774"/>
                <a:ext cx="1385" cy="28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5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3. Nucleotide workfow</a:t>
                </a:r>
                <a:endParaRPr lang="en-US" altLang="zh-CN" sz="5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195" name="文本框 194"/>
              <p:cNvSpPr txBox="1"/>
              <p:nvPr/>
            </p:nvSpPr>
            <p:spPr>
              <a:xfrm>
                <a:off x="2549" y="9009"/>
                <a:ext cx="1035" cy="28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indent="0" algn="ctr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Nucleotide FASTA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sp>
          <p:nvSpPr>
            <p:cNvPr id="196" name="文本框 195"/>
            <p:cNvSpPr txBox="1"/>
            <p:nvPr/>
          </p:nvSpPr>
          <p:spPr>
            <a:xfrm>
              <a:off x="4403" y="11966"/>
              <a:ext cx="640" cy="5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 anchor="ctr" anchorCtr="0">
              <a:noAutofit/>
            </a:bodyPr>
            <a:p>
              <a:pPr indent="0" algn="ctr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Clean CDS</a:t>
              </a: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+ </a:t>
              </a: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Translate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197" name="文本框 196"/>
            <p:cNvSpPr txBox="1"/>
            <p:nvPr/>
          </p:nvSpPr>
          <p:spPr>
            <a:xfrm>
              <a:off x="4987" y="13171"/>
              <a:ext cx="1035" cy="2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 anchor="ctr" anchorCtr="0">
              <a:noAutofit/>
            </a:bodyPr>
            <a:p>
              <a:pPr indent="0" algn="ctr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Sequence Align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198" name="文本框 197"/>
            <p:cNvSpPr txBox="1"/>
            <p:nvPr/>
          </p:nvSpPr>
          <p:spPr>
            <a:xfrm>
              <a:off x="4958" y="12704"/>
              <a:ext cx="1035" cy="2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 anchor="ctr" anchorCtr="0">
              <a:noAutofit/>
            </a:bodyPr>
            <a:p>
              <a:pPr indent="0" algn="ctr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Sequence Align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199" name="文本框 198"/>
            <p:cNvSpPr txBox="1"/>
            <p:nvPr/>
          </p:nvSpPr>
          <p:spPr>
            <a:xfrm>
              <a:off x="6725" y="12704"/>
              <a:ext cx="1035" cy="2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 anchor="ctr" anchorCtr="0">
              <a:noAutofit/>
            </a:bodyPr>
            <a:p>
              <a:pPr indent="0" algn="ctr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Trim protein alignments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200" name="文本框 199"/>
            <p:cNvSpPr txBox="1"/>
            <p:nvPr/>
          </p:nvSpPr>
          <p:spPr>
            <a:xfrm>
              <a:off x="6725" y="13172"/>
              <a:ext cx="1035" cy="2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 anchor="ctr" anchorCtr="0">
              <a:noAutofit/>
            </a:bodyPr>
            <a:p>
              <a:pPr indent="0" algn="ctr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Trim n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ucleotide 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alignments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201" name="文本框 200"/>
            <p:cNvSpPr txBox="1"/>
            <p:nvPr/>
          </p:nvSpPr>
          <p:spPr>
            <a:xfrm>
              <a:off x="5294" y="11966"/>
              <a:ext cx="673" cy="5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 anchor="ctr" anchorCtr="0">
              <a:noAutofit/>
            </a:bodyPr>
            <a:p>
              <a:pPr indent="0" algn="ctr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Sequence Align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202" name="文本框 201"/>
            <p:cNvSpPr txBox="1"/>
            <p:nvPr/>
          </p:nvSpPr>
          <p:spPr>
            <a:xfrm>
              <a:off x="6227" y="11966"/>
              <a:ext cx="610" cy="5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 anchor="ctr" anchorCtr="0">
              <a:noAutofit/>
            </a:bodyPr>
            <a:p>
              <a:pPr indent="0" algn="ctr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Back-translate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203" name="文本框 202"/>
            <p:cNvSpPr txBox="1"/>
            <p:nvPr/>
          </p:nvSpPr>
          <p:spPr>
            <a:xfrm>
              <a:off x="7086" y="11966"/>
              <a:ext cx="673" cy="5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 anchor="ctr" anchorCtr="0">
              <a:noAutofit/>
            </a:bodyPr>
            <a:p>
              <a:pPr indent="0" algn="ctr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Trim protein + codon alignments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204" name="右箭头 203"/>
            <p:cNvSpPr/>
            <p:nvPr/>
          </p:nvSpPr>
          <p:spPr>
            <a:xfrm>
              <a:off x="4133" y="12184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5" name="右箭头 204"/>
            <p:cNvSpPr/>
            <p:nvPr/>
          </p:nvSpPr>
          <p:spPr>
            <a:xfrm>
              <a:off x="5060" y="12184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6" name="右箭头 205"/>
            <p:cNvSpPr/>
            <p:nvPr/>
          </p:nvSpPr>
          <p:spPr>
            <a:xfrm>
              <a:off x="5979" y="12184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7" name="右箭头 206"/>
            <p:cNvSpPr/>
            <p:nvPr/>
          </p:nvSpPr>
          <p:spPr>
            <a:xfrm>
              <a:off x="6861" y="12184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8" name="右箭头 207"/>
            <p:cNvSpPr/>
            <p:nvPr/>
          </p:nvSpPr>
          <p:spPr>
            <a:xfrm>
              <a:off x="4403" y="12785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9" name="右箭头 208"/>
            <p:cNvSpPr/>
            <p:nvPr/>
          </p:nvSpPr>
          <p:spPr>
            <a:xfrm>
              <a:off x="4403" y="13226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0" name="右箭头 209"/>
            <p:cNvSpPr/>
            <p:nvPr/>
          </p:nvSpPr>
          <p:spPr>
            <a:xfrm>
              <a:off x="6273" y="12785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1" name="右箭头 210"/>
            <p:cNvSpPr/>
            <p:nvPr/>
          </p:nvSpPr>
          <p:spPr>
            <a:xfrm>
              <a:off x="6273" y="13226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2" name="文本框 211"/>
            <p:cNvSpPr txBox="1"/>
            <p:nvPr/>
          </p:nvSpPr>
          <p:spPr>
            <a:xfrm>
              <a:off x="8307" y="11739"/>
              <a:ext cx="2098" cy="8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no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Output FASTA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Codon alignment: *.codon.aln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Protein alignment: *.prot.aln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Nucleotide alignment: .nucl.aln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Trimmed alignment (optional): *.trimal.aln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215" name="右箭头 214"/>
            <p:cNvSpPr/>
            <p:nvPr/>
          </p:nvSpPr>
          <p:spPr>
            <a:xfrm>
              <a:off x="2481" y="12910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6" name="右箭头 215"/>
            <p:cNvSpPr/>
            <p:nvPr/>
          </p:nvSpPr>
          <p:spPr>
            <a:xfrm>
              <a:off x="7996" y="12303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7" name="文本框 216"/>
            <p:cNvSpPr txBox="1"/>
            <p:nvPr/>
          </p:nvSpPr>
          <p:spPr>
            <a:xfrm>
              <a:off x="121" y="11411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sz="1000" b="1">
                  <a:latin typeface="Arial" panose="020B0604020202020204" pitchFamily="34" charset="0"/>
                  <a:cs typeface="Arial" panose="020B0604020202020204" pitchFamily="34" charset="0"/>
                </a:rPr>
                <a:t>F</a:t>
              </a:r>
              <a:endParaRPr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lang="en-US" sz="500" b="1">
                  <a:latin typeface="Arial" panose="020B0604020202020204" pitchFamily="34" charset="0"/>
                  <a:cs typeface="Arial" panose="020B0604020202020204" pitchFamily="34" charset="0"/>
                </a:rPr>
                <a:t>Multiple sequence alignment pipeline</a:t>
              </a:r>
              <a:endParaRPr lang="en-US"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8" name="矩形 217"/>
            <p:cNvSpPr/>
            <p:nvPr/>
          </p:nvSpPr>
          <p:spPr>
            <a:xfrm>
              <a:off x="161" y="11450"/>
              <a:ext cx="10501" cy="2972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0" name="文本框 219"/>
            <p:cNvSpPr txBox="1"/>
            <p:nvPr/>
          </p:nvSpPr>
          <p:spPr>
            <a:xfrm>
              <a:off x="144" y="14156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en-US" altLang="zh-CN" sz="5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MSAP.py | MSAP_batch.py</a:t>
              </a:r>
              <a:endParaRPr lang="en-US" altLang="zh-CN" sz="5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1" name="文本框 220"/>
            <p:cNvSpPr txBox="1"/>
            <p:nvPr/>
          </p:nvSpPr>
          <p:spPr>
            <a:xfrm>
              <a:off x="8307" y="13859"/>
              <a:ext cx="2098" cy="26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no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MSA Matrix Connecting to Downstream Scripts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222" name="右箭头 221"/>
            <p:cNvSpPr/>
            <p:nvPr/>
          </p:nvSpPr>
          <p:spPr>
            <a:xfrm rot="5400000">
              <a:off x="9244" y="13636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66" name="文本框 265"/>
            <p:cNvSpPr txBox="1"/>
            <p:nvPr/>
          </p:nvSpPr>
          <p:spPr>
            <a:xfrm>
              <a:off x="8307" y="13029"/>
              <a:ext cx="2098" cy="4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no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Run MSAP.py on multiple FASTA files concurrently with validated results and resume support by </a:t>
              </a:r>
              <a:r>
                <a:rPr lang="en-US" altLang="zh-CN" sz="4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MSAP_batch.py script</a:t>
              </a: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.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267" name="右箭头 266"/>
            <p:cNvSpPr/>
            <p:nvPr/>
          </p:nvSpPr>
          <p:spPr>
            <a:xfrm rot="5400000">
              <a:off x="9244" y="12738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3" name="组合 2"/>
            <p:cNvGrpSpPr/>
            <p:nvPr/>
          </p:nvGrpSpPr>
          <p:grpSpPr>
            <a:xfrm rot="0">
              <a:off x="2899" y="13427"/>
              <a:ext cx="1459" cy="518"/>
              <a:chOff x="2391" y="8774"/>
              <a:chExt cx="1459" cy="518"/>
            </a:xfrm>
          </p:grpSpPr>
          <p:sp>
            <p:nvSpPr>
              <p:cNvPr id="4" name="文本框 3"/>
              <p:cNvSpPr txBox="1"/>
              <p:nvPr/>
            </p:nvSpPr>
            <p:spPr>
              <a:xfrm>
                <a:off x="2391" y="8774"/>
                <a:ext cx="1459" cy="28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5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4. pseudogene workfow</a:t>
                </a:r>
                <a:endParaRPr lang="en-US" altLang="zh-CN" sz="5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5" name="文本框 4"/>
              <p:cNvSpPr txBox="1"/>
              <p:nvPr/>
            </p:nvSpPr>
            <p:spPr>
              <a:xfrm>
                <a:off x="2549" y="9009"/>
                <a:ext cx="1300" cy="28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indent="0" algn="ctr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CDS FASTA</a:t>
                </a:r>
                <a:b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</a:br>
                <a: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 (Allowing frameshifts/stops) 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sp>
          <p:nvSpPr>
            <p:cNvPr id="6" name="文本框 5"/>
            <p:cNvSpPr txBox="1"/>
            <p:nvPr/>
          </p:nvSpPr>
          <p:spPr>
            <a:xfrm>
              <a:off x="4987" y="13661"/>
              <a:ext cx="1035" cy="2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 anchor="ctr" anchorCtr="0">
              <a:noAutofit/>
            </a:bodyPr>
            <a:p>
              <a:pPr indent="0" algn="ctr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Sequence Align by macse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6725" y="13662"/>
              <a:ext cx="1035" cy="2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 anchor="ctr" anchorCtr="0">
              <a:noAutofit/>
            </a:bodyPr>
            <a:p>
              <a:pPr indent="0" algn="ctr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Trim protein + codon alignments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9" name="右箭头 8"/>
            <p:cNvSpPr/>
            <p:nvPr/>
          </p:nvSpPr>
          <p:spPr>
            <a:xfrm>
              <a:off x="4546" y="13716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4" name="右箭头 13"/>
            <p:cNvSpPr/>
            <p:nvPr/>
          </p:nvSpPr>
          <p:spPr>
            <a:xfrm>
              <a:off x="6273" y="13716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83" name="组合 82"/>
          <p:cNvGrpSpPr/>
          <p:nvPr/>
        </p:nvGrpSpPr>
        <p:grpSpPr>
          <a:xfrm>
            <a:off x="53975" y="88265"/>
            <a:ext cx="3362325" cy="1963420"/>
            <a:chOff x="189" y="230"/>
            <a:chExt cx="5295" cy="3092"/>
          </a:xfrm>
        </p:grpSpPr>
        <p:sp>
          <p:nvSpPr>
            <p:cNvPr id="2" name="文本框 1"/>
            <p:cNvSpPr txBox="1"/>
            <p:nvPr/>
          </p:nvSpPr>
          <p:spPr>
            <a:xfrm>
              <a:off x="332" y="687"/>
              <a:ext cx="809" cy="8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no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taxa</a:t>
              </a: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1.fa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taxa</a:t>
              </a: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2.fa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taxa</a:t>
              </a: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3.fa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taxa4</a:t>
              </a: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.fa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taxa5</a:t>
              </a: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.fa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taxa6.fa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1467" y="687"/>
              <a:ext cx="3791" cy="8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Orthogroup       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taxa</a:t>
              </a: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1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       taxa2         taxa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3                       taxa4         taxa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5         taxa6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OG0000000     sp1_g1      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sp2_g1      sp3_g1                    sp4_g1      sp5_g1      sp6_g1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OG0000001     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sp1_g2                        sp3_g2,sp3_g3                         sp5_g2      sp6_g2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OG0000002     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sp1_g3      sp2_g2      sp3_g4                    sp4_g3      sp5_g3      sp6_g3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OG0000003     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sp1_g4      sp2_g3      sp3_g5,sp3_g6       sp4_g4      sp5_g4      sp6_g4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OG0000004     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sp1_g5                        sp3_g7                    sp4_g5      sp5_g5      sp6_g5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16" name="加号 15"/>
            <p:cNvSpPr/>
            <p:nvPr/>
          </p:nvSpPr>
          <p:spPr>
            <a:xfrm>
              <a:off x="1191" y="1007"/>
              <a:ext cx="225" cy="201"/>
            </a:xfrm>
            <a:prstGeom prst="mathPlus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304" y="1728"/>
              <a:ext cx="4921" cy="132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no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zh-CN" altLang="en-US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--copy-mode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r>
                <a:rPr lang="zh-CN" altLang="en-US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single-copy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--min-taxa 6                               </a:t>
              </a:r>
              <a:r>
                <a:rPr lang="zh-CN" altLang="en-US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--copy-mode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r>
                <a:rPr lang="zh-CN" altLang="en-US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all-copies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--min-taxa 6         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OG0000000.fasta                                                               OG0000000.fasta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OG0000002.fasta                                                               OG0000002.fasta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                                                                                          OG0000003.fasta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zh-CN" altLang="en-US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--copy-mode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r>
                <a:rPr lang="zh-CN" altLang="en-US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single-copy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--min-taxa 5                                 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OG0000000.fasta                                                              </a:t>
              </a:r>
              <a:r>
                <a:rPr lang="zh-CN" altLang="en-US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--copy-mode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r>
                <a:rPr lang="zh-CN" altLang="en-US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all-copies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--min-taxa 5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OG0000002.fasta                                                               OG0000000.fasta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OG0000004.fasta                                                               OG0000002.fasta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                                                                                          OG0000003.fasta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                                                                                          OG0000004.fasta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28" name="右箭头 27"/>
            <p:cNvSpPr/>
            <p:nvPr/>
          </p:nvSpPr>
          <p:spPr>
            <a:xfrm rot="5400000">
              <a:off x="1191" y="1486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2" name="矩形 31"/>
            <p:cNvSpPr/>
            <p:nvPr/>
          </p:nvSpPr>
          <p:spPr>
            <a:xfrm>
              <a:off x="243" y="289"/>
              <a:ext cx="5147" cy="3033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235" y="3056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extract_orthofinder_orthogroups.py</a:t>
              </a:r>
              <a:endParaRPr lang="zh-CN" altLang="en-US" sz="5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189" y="230"/>
              <a:ext cx="5295" cy="467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pPr algn="l"/>
              <a:r>
                <a:rPr lang="en-US" sz="1000" b="1">
                  <a:latin typeface="Arial" panose="020B0604020202020204" pitchFamily="34" charset="0"/>
                  <a:cs typeface="Arial" panose="020B0604020202020204" pitchFamily="34" charset="0"/>
                </a:rPr>
                <a:t>A</a:t>
              </a:r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sz="500" b="1">
                  <a:latin typeface="Arial" panose="020B0604020202020204" pitchFamily="34" charset="0"/>
                  <a:cs typeface="Arial" panose="020B0604020202020204" pitchFamily="34" charset="0"/>
                </a:rPr>
                <a:t>Extract selected single-copy or multi-copy sequence orthogroups from OrthoFinder Orthogroups.tsv</a:t>
              </a:r>
              <a:endParaRPr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7681</Words>
  <Application>WPS 演示</Application>
  <PresentationFormat>宽屏</PresentationFormat>
  <Paragraphs>309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4" baseType="lpstr">
      <vt:lpstr>Arial</vt:lpstr>
      <vt:lpstr>宋体</vt:lpstr>
      <vt:lpstr>Wingdings</vt:lpstr>
      <vt:lpstr>Ubuntu Mono</vt:lpstr>
      <vt:lpstr>Calibri</vt:lpstr>
      <vt:lpstr>Trebuchet MS</vt:lpstr>
      <vt:lpstr>微软雅黑</vt:lpstr>
      <vt:lpstr>Arial Unicode MS</vt:lpstr>
      <vt:lpstr>宋体</vt:lpstr>
      <vt:lpstr>Calibri Light</vt:lpstr>
      <vt:lpstr>OpenSymbol</vt:lpstr>
      <vt:lpstr>Times New Roman</vt:lpstr>
      <vt:lpstr>TeX Gyre Adventor</vt:lpstr>
      <vt:lpstr>AR PL UMing TW MBE</vt:lpstr>
      <vt:lpstr>Amiri Quran Colored</vt:lpstr>
      <vt:lpstr>Amiri Quran</vt:lpstr>
      <vt:lpstr>Ani</vt:lpstr>
      <vt:lpstr>Accanthis ADF Std No3</vt:lpstr>
      <vt:lpstr>Bitstream Charter</vt:lpstr>
      <vt:lpstr>Yrsa Medium</vt:lpstr>
      <vt:lpstr>Padauk Book</vt:lpstr>
      <vt:lpstr>Open Sans Condensed Light</vt:lpstr>
      <vt:lpstr>Noto Serif Thai</vt:lpstr>
      <vt:lpstr>Meera</vt:lpstr>
      <vt:lpstr>Mallanna</vt:lpstr>
      <vt:lpstr>Lohit Telugu</vt:lpstr>
      <vt:lpstr>Navilu</vt:lpstr>
      <vt:lpstr>Mukti</vt:lpstr>
      <vt:lpstr>Manjari</vt:lpstr>
      <vt:lpstr>Mandali</vt:lpstr>
      <vt:lpstr>Loma</vt:lpstr>
      <vt:lpstr>文鼎ＰＬ简报宋</vt:lpstr>
      <vt:lpstr>AR PL UMing HK</vt:lpstr>
      <vt:lpstr>Berenis ADF Pro Math</vt:lpstr>
      <vt:lpstr>Caladea</vt:lpstr>
      <vt:lpstr>Cantarell Thin</vt:lpstr>
      <vt:lpstr>EB Garamond SC 12</vt:lpstr>
      <vt:lpstr>FoulisGreek</vt:lpstr>
      <vt:lpstr>Go Smallcaps</vt:lpstr>
      <vt:lpstr>IPAexMincho</vt:lpstr>
      <vt:lpstr>Latin Modern Sans</vt:lpstr>
      <vt:lpstr>Liberation Sans</vt:lpstr>
      <vt:lpstr>Linux Biolinum Keyboard O</vt:lpstr>
      <vt:lpstr>Liberation Mono</vt:lpstr>
      <vt:lpstr>Tibetan Machine Uni</vt:lpstr>
      <vt:lpstr>AR PL KaitiM Big5</vt:lpstr>
      <vt:lpstr>AR PL UMing TW</vt:lpstr>
      <vt:lpstr>Arimo</vt:lpstr>
      <vt:lpstr>Chilanka</vt:lpstr>
      <vt:lpstr>Courier 10 Pitch</vt:lpstr>
      <vt:lpstr>DejaVu Sans</vt:lpstr>
      <vt:lpstr>DejaVu Sans Light</vt:lpstr>
      <vt:lpstr>EB Garamond 12</vt:lpstr>
      <vt:lpstr>FreeSans</vt:lpstr>
      <vt:lpstr>GFS Didot</vt:lpstr>
      <vt:lpstr>GFS Didot Classic</vt:lpstr>
      <vt:lpstr>GFS Neohellenic Rg</vt:lpstr>
      <vt:lpstr>Gentium Book Basic</vt:lpstr>
      <vt:lpstr>IPAGothic</vt:lpstr>
      <vt:lpstr>IPAexGothic</vt:lpstr>
      <vt:lpstr>Junicode</vt:lpstr>
      <vt:lpstr>Gillius ADF No2 Cond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chenguisen</cp:lastModifiedBy>
  <cp:revision>57</cp:revision>
  <dcterms:created xsi:type="dcterms:W3CDTF">2026-10-01T05:54:37Z</dcterms:created>
  <dcterms:modified xsi:type="dcterms:W3CDTF">2026-10-01T05:54:37Z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2052-12.1.0.17885</vt:lpwstr>
  </property>
  <property fmtid="{D5CDD505-2E9C-101B-9397-08002B2CF9AE}" pid="3" name="ICV">
    <vt:lpwstr>83BE8A99D134D47E7C879E6AC6495554_43</vt:lpwstr>
  </property>
</Properties>
</file>