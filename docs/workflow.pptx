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6858000" cy="1219263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17" userDrawn="1">
          <p15:clr>
            <a:srgbClr val="A4A3A4"/>
          </p15:clr>
        </p15:guide>
        <p15:guide id="2" pos="21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8A98"/>
    <a:srgbClr val="E68822"/>
    <a:srgbClr val="0F5FBD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917"/>
        <p:guide pos="213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81371" y="1279525"/>
            <a:ext cx="1942909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857290" y="2352164"/>
            <a:ext cx="5143739" cy="3888385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45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857290" y="6404254"/>
            <a:ext cx="5143739" cy="2943867"/>
          </a:xfrm>
        </p:spPr>
        <p:txBody>
          <a:bodyPr>
            <a:normAutofit/>
          </a:bodyPr>
          <a:lstStyle>
            <a:lvl1pPr marL="0" indent="0" algn="ctr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4348" y="459503"/>
            <a:ext cx="5915299" cy="2356788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64348" y="3245875"/>
            <a:ext cx="5915299" cy="7736474"/>
          </a:xfrm>
        </p:spPr>
        <p:txBody>
          <a:bodyPr>
            <a:normAutofit/>
          </a:bodyPr>
          <a:lstStyle>
            <a:lvl1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7937" y="6669309"/>
            <a:ext cx="4118563" cy="1442554"/>
          </a:xfrm>
        </p:spPr>
        <p:txBody>
          <a:bodyPr anchor="b">
            <a:normAutofit/>
          </a:bodyPr>
          <a:lstStyle>
            <a:lvl1pPr>
              <a:defRPr sz="3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7937" y="8196412"/>
            <a:ext cx="4118563" cy="1151322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4348" y="459503"/>
            <a:ext cx="5915299" cy="2356788"/>
          </a:xfrm>
        </p:spPr>
        <p:txBody>
          <a:bodyPr>
            <a:normAutofit/>
          </a:bodyPr>
          <a:lstStyle>
            <a:lvl1pPr>
              <a:defRPr sz="18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64348" y="3245875"/>
            <a:ext cx="2914785" cy="773647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64862" y="3245875"/>
            <a:ext cx="2914785" cy="773647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2403" y="649175"/>
            <a:ext cx="5915299" cy="235678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2403" y="3102458"/>
            <a:ext cx="2901390" cy="146487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2403" y="4650429"/>
            <a:ext cx="2901390" cy="635449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2024" y="3102458"/>
            <a:ext cx="2915678" cy="146487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2024" y="4650429"/>
            <a:ext cx="2915678" cy="635449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509" y="4918207"/>
            <a:ext cx="5915299" cy="2356788"/>
          </a:xfrm>
        </p:spPr>
        <p:txBody>
          <a:bodyPr>
            <a:normAutofit/>
          </a:bodyPr>
          <a:lstStyle>
            <a:lvl1pPr algn="ctr">
              <a:defRPr sz="36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63812" y="225800"/>
            <a:ext cx="2343034" cy="2845080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2916135" y="1362541"/>
            <a:ext cx="3272425" cy="905768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66670" y="3657960"/>
            <a:ext cx="2343034" cy="677682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526529" y="649175"/>
            <a:ext cx="860280" cy="10333174"/>
          </a:xfrm>
        </p:spPr>
        <p:txBody>
          <a:bodyPr vert="eaVert">
            <a:normAutofit/>
          </a:bodyPr>
          <a:lstStyle>
            <a:lvl1pPr>
              <a:defRPr sz="27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71509" y="649175"/>
            <a:ext cx="4995208" cy="10333174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471509" y="980617"/>
            <a:ext cx="5915299" cy="9883588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509" y="649175"/>
            <a:ext cx="5915299" cy="2356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509" y="3245875"/>
            <a:ext cx="5915299" cy="7736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509" y="11301291"/>
            <a:ext cx="1543122" cy="649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818" y="11301291"/>
            <a:ext cx="2314682" cy="649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687" y="11301291"/>
            <a:ext cx="1543122" cy="649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3491865" y="1946275"/>
            <a:ext cx="3268345" cy="861695"/>
            <a:chOff x="5456" y="5876"/>
            <a:chExt cx="5147" cy="1357"/>
          </a:xfrm>
        </p:grpSpPr>
        <p:sp>
          <p:nvSpPr>
            <p:cNvPr id="8" name="文本框 7"/>
            <p:cNvSpPr txBox="1"/>
            <p:nvPr/>
          </p:nvSpPr>
          <p:spPr>
            <a:xfrm>
              <a:off x="5591" y="6359"/>
              <a:ext cx="1476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Seq2: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G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C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</a:rPr>
                <a:t>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</a:rPr>
                <a:t>T</a:t>
              </a:r>
              <a:endParaRPr lang="en-US" altLang="zh-CN" sz="400">
                <a:solidFill>
                  <a:srgbClr val="0B8A98"/>
                </a:solidFill>
                <a:latin typeface="Ubuntu Mono" panose="020B0509030602030204" charset="0"/>
                <a:cs typeface="Ubuntu Mono" panose="020B050903060203020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7544" y="6359"/>
              <a:ext cx="2946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1st codon alignment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2nd codon alignment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3rd codon alignment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AGTGCA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Seq1: 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TCTGCA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Seq1: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GTAATA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Seq2: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AGTGCA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Seq2: 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TCTGCA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Seq2: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GAAAAG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AGTGCA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Seq3: </a:t>
              </a:r>
              <a:r>
                <a:rPr lang="en-US" altLang="zh-CN" sz="400">
                  <a:solidFill>
                    <a:srgbClr val="0F5FBD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TCTGCA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Seq3: </a:t>
              </a:r>
              <a:r>
                <a: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GCGACT</a:t>
              </a:r>
              <a:endParaRPr lang="en-US" altLang="zh-CN" sz="400">
                <a:solidFill>
                  <a:srgbClr val="0B8A98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456" y="5888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altLang="zh-CN" sz="1000" b="1">
                  <a:latin typeface="Arial" panose="020B0604020202020204" pitchFamily="34" charset="0"/>
                  <a:cs typeface="Arial" panose="020B0604020202020204" pitchFamily="34" charset="0"/>
                </a:rPr>
                <a:t>G</a:t>
              </a:r>
              <a:endParaRPr lang="zh-CN" alt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lang="zh-CN" altLang="en-US" sz="500" b="1">
                  <a:latin typeface="Arial" panose="020B0604020202020204" pitchFamily="34" charset="0"/>
                  <a:cs typeface="Arial" panose="020B0604020202020204" pitchFamily="34" charset="0"/>
                </a:rPr>
                <a:t>One codon matrix → three position matrices</a:t>
              </a:r>
              <a:endParaRPr lang="zh-CN" altLang="en-US"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5456" y="6967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split_codon_seqence_alignment.py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5456" y="5876"/>
              <a:ext cx="5147" cy="1357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右箭头 28"/>
            <p:cNvSpPr/>
            <p:nvPr/>
          </p:nvSpPr>
          <p:spPr>
            <a:xfrm>
              <a:off x="7196" y="65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3491865" y="2904490"/>
            <a:ext cx="3275965" cy="832485"/>
            <a:chOff x="5444" y="5922"/>
            <a:chExt cx="5159" cy="1311"/>
          </a:xfrm>
        </p:grpSpPr>
        <p:sp>
          <p:nvSpPr>
            <p:cNvPr id="43" name="文本框 42"/>
            <p:cNvSpPr txBox="1"/>
            <p:nvPr/>
          </p:nvSpPr>
          <p:spPr>
            <a:xfrm>
              <a:off x="5591" y="6359"/>
              <a:ext cx="1476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GCT GCA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TGG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CCT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Seq2: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GCC GCG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TGG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AAA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CCC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GCA GCT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GCC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CAA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CCG</a:t>
              </a:r>
              <a:endParaRPr lang="en-US" altLang="zh-CN" sz="400">
                <a:solidFill>
                  <a:srgbClr val="E68822"/>
                </a:solidFill>
                <a:latin typeface="Ubuntu Mono" panose="020B0509030602030204" charset="0"/>
                <a:cs typeface="Ubuntu Mono" panose="020B0509030602030204" charset="0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7544" y="6359"/>
              <a:ext cx="2946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Extract only third-position sites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TAGT</a:t>
              </a:r>
              <a:endParaRPr lang="en-US" altLang="zh-CN" sz="400">
                <a:solidFill>
                  <a:srgbClr val="E68822"/>
                </a:solidFill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Seq2: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 CGAC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ATCG</a:t>
              </a:r>
              <a:endParaRPr lang="en-US" altLang="zh-CN" sz="400">
                <a:solidFill>
                  <a:srgbClr val="E68822"/>
                </a:solidFill>
                <a:latin typeface="Ubuntu Mono" panose="020B0509030602030204" charset="0"/>
                <a:cs typeface="Ubuntu Mono" panose="020B0509030602030204" charset="0"/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5444" y="5923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Extract four-fold degenerate third positions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5456" y="6967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extract_4-fold_degenerated_sites.py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5456" y="5922"/>
              <a:ext cx="5147" cy="1311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8" name="右箭头 47"/>
            <p:cNvSpPr/>
            <p:nvPr/>
          </p:nvSpPr>
          <p:spPr>
            <a:xfrm>
              <a:off x="7196" y="65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49" name="组合 48"/>
          <p:cNvGrpSpPr/>
          <p:nvPr/>
        </p:nvGrpSpPr>
        <p:grpSpPr>
          <a:xfrm>
            <a:off x="103505" y="3469005"/>
            <a:ext cx="3274695" cy="855345"/>
            <a:chOff x="5446" y="5886"/>
            <a:chExt cx="5157" cy="1347"/>
          </a:xfrm>
        </p:grpSpPr>
        <p:sp>
          <p:nvSpPr>
            <p:cNvPr id="50" name="文本框 49"/>
            <p:cNvSpPr txBox="1"/>
            <p:nvPr/>
          </p:nvSpPr>
          <p:spPr>
            <a:xfrm>
              <a:off x="5591" y="6359"/>
              <a:ext cx="2417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Seq1: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---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ATT TGC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NNN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GCA ATG GCG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TNG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CCT GCT TTA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Seq2: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---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ATC TGC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GCC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GCG TGG GCA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AAN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CCC GCA TTA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Seq3: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GGG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ATT TGC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NNN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GCT ATG GCC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</a:rPr>
                <a:t>NAA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</a:rPr>
                <a:t> CCG GCC TTG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8459" y="6359"/>
              <a:ext cx="2031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sym typeface="+mn-ea"/>
                </a:rPr>
                <a:t>Trimmed codon alignment</a:t>
              </a:r>
              <a:endParaRPr lang="en-US" altLang="zh-CN" sz="400">
                <a:solidFill>
                  <a:schemeClr val="tx1"/>
                </a:solidFill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rPr>
                <a:t>Seq1: ATG ATT TGC GCA ATG GCG CCT GCT TTA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rPr>
                <a:t>Seq2: ATG ATC TGC GCG TGG GCA CCC GCA TTA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rPr>
                <a:t>Seq3: ATG ATT TGC GCT ATG GCC CCG GCC TTG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5446" y="5900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Trim poorly aligned columns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5456" y="6967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trimAlnSeq.py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5456" y="5886"/>
              <a:ext cx="5147" cy="1347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5" name="右箭头 54"/>
            <p:cNvSpPr/>
            <p:nvPr/>
          </p:nvSpPr>
          <p:spPr>
            <a:xfrm>
              <a:off x="8121" y="65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175" name="组合 174"/>
          <p:cNvGrpSpPr/>
          <p:nvPr/>
        </p:nvGrpSpPr>
        <p:grpSpPr>
          <a:xfrm>
            <a:off x="3491865" y="3833495"/>
            <a:ext cx="3287395" cy="1233805"/>
            <a:chOff x="5426" y="3338"/>
            <a:chExt cx="5177" cy="1943"/>
          </a:xfrm>
        </p:grpSpPr>
        <p:grpSp>
          <p:nvGrpSpPr>
            <p:cNvPr id="77" name="组合 76"/>
            <p:cNvGrpSpPr/>
            <p:nvPr/>
          </p:nvGrpSpPr>
          <p:grpSpPr>
            <a:xfrm>
              <a:off x="5426" y="3338"/>
              <a:ext cx="5177" cy="1943"/>
              <a:chOff x="5456" y="5874"/>
              <a:chExt cx="5177" cy="1943"/>
            </a:xfrm>
          </p:grpSpPr>
          <p:sp>
            <p:nvSpPr>
              <p:cNvPr id="78" name="文本框 77"/>
              <p:cNvSpPr txBox="1"/>
              <p:nvPr/>
            </p:nvSpPr>
            <p:spPr>
              <a:xfrm>
                <a:off x="5591" y="6335"/>
                <a:ext cx="1571" cy="72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FASTA format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&gt;Seq1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GCTGCAATGGCGTGGCCT 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&gt;Seq2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GCCGCGTGGGCAAAACCC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  <p:sp>
            <p:nvSpPr>
              <p:cNvPr id="80" name="文本框 79"/>
              <p:cNvSpPr txBox="1"/>
              <p:nvPr/>
            </p:nvSpPr>
            <p:spPr>
              <a:xfrm>
                <a:off x="5456" y="5874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endParaRPr sz="10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Convert a FASTA alignment to </a:t>
                </a:r>
                <a:r>
                  <a:rPr lang="en-US" sz="500" b="1">
                    <a:latin typeface="Arial" panose="020B0604020202020204" pitchFamily="34" charset="0"/>
                    <a:cs typeface="Arial" panose="020B0604020202020204" pitchFamily="34" charset="0"/>
                  </a:rPr>
                  <a:t>AXT, </a:t>
                </a: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PHYLIP, and </a:t>
                </a:r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NEXUS format</a:t>
                </a:r>
                <a:r>
                  <a:rPr lang="en-US" sz="500" b="1">
                    <a:latin typeface="Arial" panose="020B0604020202020204" pitchFamily="34" charset="0"/>
                    <a:cs typeface="Arial" panose="020B0604020202020204" pitchFamily="34" charset="0"/>
                  </a:rPr>
                  <a:t> alignment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1" name="文本框 80"/>
              <p:cNvSpPr txBox="1"/>
              <p:nvPr/>
            </p:nvSpPr>
            <p:spPr>
              <a:xfrm>
                <a:off x="5524" y="7250"/>
                <a:ext cx="1030" cy="506"/>
              </a:xfrm>
              <a:prstGeom prst="rect">
                <a:avLst/>
              </a:prstGeom>
              <a:noFill/>
            </p:spPr>
            <p:txBody>
              <a:bodyPr wrap="square" rtlCol="0" anchor="t">
                <a:noAutofit/>
              </a:bodyPr>
              <a:p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fasta2axt.py</a:t>
                </a:r>
                <a:endPara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fasta2</a:t>
                </a:r>
                <a:r>
                  <a:rPr lang="en-US" altLang="zh-CN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phy</a:t>
                </a:r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.py</a:t>
                </a:r>
                <a:endPara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fasta2</a:t>
                </a:r>
                <a:r>
                  <a:rPr lang="en-US" altLang="zh-CN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nex</a:t>
                </a:r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.py</a:t>
                </a:r>
                <a:endPara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2" name="矩形 81"/>
              <p:cNvSpPr/>
              <p:nvPr/>
            </p:nvSpPr>
            <p:spPr>
              <a:xfrm>
                <a:off x="5486" y="5874"/>
                <a:ext cx="5147" cy="1943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85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174" name="组合 173"/>
            <p:cNvGrpSpPr/>
            <p:nvPr/>
          </p:nvGrpSpPr>
          <p:grpSpPr>
            <a:xfrm>
              <a:off x="7223" y="3799"/>
              <a:ext cx="3215" cy="1421"/>
              <a:chOff x="7223" y="3799"/>
              <a:chExt cx="3215" cy="1421"/>
            </a:xfrm>
          </p:grpSpPr>
          <p:sp>
            <p:nvSpPr>
              <p:cNvPr id="84" name="文本框 83"/>
              <p:cNvSpPr txBox="1"/>
              <p:nvPr/>
            </p:nvSpPr>
            <p:spPr>
              <a:xfrm>
                <a:off x="8884" y="3799"/>
                <a:ext cx="1554" cy="14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NEXUS format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#NEXUS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begin data;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dimensions ntax=2 nchar=18;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format datatype=dna missing=? gap=-;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matrix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Seq1 GCTGCAATGGCGTGGCCT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Seq2 GCCGCGTGGGCAAAACCC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;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end;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  <p:sp>
            <p:nvSpPr>
              <p:cNvPr id="85" name="文本框 84"/>
              <p:cNvSpPr txBox="1"/>
              <p:nvPr/>
            </p:nvSpPr>
            <p:spPr>
              <a:xfrm>
                <a:off x="7223" y="4624"/>
                <a:ext cx="1554" cy="59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no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PHYLIP format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2 18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Seq1  GCTGCAATGGCGTGGCCT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Seq2  GCCGCGTGGGCAAAACCC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  <p:sp>
            <p:nvSpPr>
              <p:cNvPr id="86" name="文本框 85"/>
              <p:cNvSpPr txBox="1"/>
              <p:nvPr/>
            </p:nvSpPr>
            <p:spPr>
              <a:xfrm>
                <a:off x="7223" y="3799"/>
                <a:ext cx="1554" cy="72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no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AXT format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&gt;Seq1|Seq2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GCTGCAATGGCGTGGCCT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GCCGCGTGGGCAAAACCC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</p:grpSp>
      </p:grpSp>
      <p:grpSp>
        <p:nvGrpSpPr>
          <p:cNvPr id="173" name="组合 172"/>
          <p:cNvGrpSpPr/>
          <p:nvPr/>
        </p:nvGrpSpPr>
        <p:grpSpPr>
          <a:xfrm>
            <a:off x="3491865" y="5163820"/>
            <a:ext cx="3272790" cy="1246505"/>
            <a:chOff x="5554" y="5558"/>
            <a:chExt cx="5154" cy="1963"/>
          </a:xfrm>
        </p:grpSpPr>
        <p:grpSp>
          <p:nvGrpSpPr>
            <p:cNvPr id="87" name="组合 86"/>
            <p:cNvGrpSpPr/>
            <p:nvPr/>
          </p:nvGrpSpPr>
          <p:grpSpPr>
            <a:xfrm>
              <a:off x="5554" y="5558"/>
              <a:ext cx="5154" cy="1963"/>
              <a:chOff x="5449" y="5895"/>
              <a:chExt cx="5154" cy="1963"/>
            </a:xfrm>
          </p:grpSpPr>
          <p:sp>
            <p:nvSpPr>
              <p:cNvPr id="88" name="文本框 87"/>
              <p:cNvSpPr txBox="1"/>
              <p:nvPr/>
            </p:nvSpPr>
            <p:spPr>
              <a:xfrm>
                <a:off x="5591" y="6335"/>
                <a:ext cx="2253" cy="118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Multiple results from codon alignment of two sequences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codon1.fasta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codon2.fasta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codon3.fasta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codon4.fasta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codon5.fasta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codon6.fasta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codon7.fasta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codon8.fasta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5449" y="5895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  <a:endParaRPr sz="10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Calculate raw and HKY-corrected 4DTV from codon FASTA alignments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1" name="矩形 90"/>
              <p:cNvSpPr/>
              <p:nvPr/>
            </p:nvSpPr>
            <p:spPr>
              <a:xfrm>
                <a:off x="5456" y="5895"/>
                <a:ext cx="5147" cy="1963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85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167" name="文本框 166"/>
            <p:cNvSpPr txBox="1"/>
            <p:nvPr/>
          </p:nvSpPr>
          <p:spPr>
            <a:xfrm>
              <a:off x="8576" y="5998"/>
              <a:ext cx="2012" cy="119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ym typeface="+mn-ea"/>
                </a:rPr>
                <a:t>Name     Seq1 Seq2  R</a:t>
              </a:r>
              <a:r>
                <a:rPr lang="zh-CN" altLang="en-US" sz="400">
                  <a:sym typeface="+mn-ea"/>
                </a:rPr>
                <a:t>aw_4dtv</a:t>
              </a:r>
              <a:r>
                <a:rPr lang="en-US" altLang="zh-CN" sz="400">
                  <a:sym typeface="+mn-ea"/>
                </a:rPr>
                <a:t>  C</a:t>
              </a:r>
              <a:r>
                <a:rPr lang="zh-CN" altLang="en-US" sz="400">
                  <a:sym typeface="+mn-ea"/>
                </a:rPr>
                <a:t>orrected_4dtv</a:t>
              </a:r>
              <a:r>
                <a:rPr lang="en-US" altLang="zh-CN" sz="400">
                  <a:sym typeface="+mn-ea"/>
                </a:rPr>
                <a:t>     </a:t>
              </a:r>
              <a:endParaRPr lang="en-US" altLang="zh-CN" sz="400"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codon1  S1   S2   XX        XX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codon2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S1   S2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XX        XX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codon3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S1   S2   XX        XX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codon4  S1   S2   XX        XX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codon5  S1   S2   XX        XX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codon6  S1   S2   XX        XX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codon7  S1   S2   XX        XX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codon8  S1   S2   XX        XX 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168" name="右箭头 167"/>
            <p:cNvSpPr/>
            <p:nvPr/>
          </p:nvSpPr>
          <p:spPr>
            <a:xfrm>
              <a:off x="8201" y="653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0" name="文本框 169"/>
            <p:cNvSpPr txBox="1"/>
            <p:nvPr/>
          </p:nvSpPr>
          <p:spPr>
            <a:xfrm>
              <a:off x="5561" y="7256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sym typeface="+mn-ea"/>
                </a:rPr>
                <a:t>calulate_4dtv_and_correction.py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grpSp>
        <p:nvGrpSpPr>
          <p:cNvPr id="262" name="组合 261"/>
          <p:cNvGrpSpPr/>
          <p:nvPr/>
        </p:nvGrpSpPr>
        <p:grpSpPr>
          <a:xfrm>
            <a:off x="103505" y="4435475"/>
            <a:ext cx="3274060" cy="1893570"/>
            <a:chOff x="169" y="7080"/>
            <a:chExt cx="5156" cy="2982"/>
          </a:xfrm>
        </p:grpSpPr>
        <p:grpSp>
          <p:nvGrpSpPr>
            <p:cNvPr id="75" name="组合 74"/>
            <p:cNvGrpSpPr/>
            <p:nvPr/>
          </p:nvGrpSpPr>
          <p:grpSpPr>
            <a:xfrm>
              <a:off x="169" y="7080"/>
              <a:ext cx="5079" cy="2983"/>
              <a:chOff x="69" y="3700"/>
              <a:chExt cx="5079" cy="2983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215" y="4134"/>
                <a:ext cx="4933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Gene1 codon alignment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Gene2 codon alignment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Gene3 codon alignment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Gene4 codon alignment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--- TGC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   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CCT AAA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   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--- GGC          </a:t>
                </a: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GCT GCA GGC</a:t>
                </a:r>
                <a:endPara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AAA TGC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   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CCA AAA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   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GGT GCC          </a:t>
                </a: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GCA GCT GCC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AAA TGC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   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CCA AAA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         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GGT GCC          </a:t>
                </a: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missing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69" y="3700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D</a:t>
                </a:r>
                <a:endParaRPr lang="en-US" sz="10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Concatenate genes into a supermatrix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62" y="5816"/>
                <a:ext cx="4982" cy="2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zh-CN" altLang="en-US" sz="500">
                    <a:latin typeface="Arial" panose="020B0604020202020204" pitchFamily="34" charset="0"/>
                    <a:cs typeface="Arial" panose="020B0604020202020204" pitchFamily="34" charset="0"/>
                  </a:rPr>
                  <a:t>get_supergenes.py</a:t>
                </a:r>
                <a:endParaRPr lang="zh-CN" altLang="en-US" sz="5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215" y="5129"/>
                <a:ext cx="2098" cy="130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sym typeface="+mn-ea"/>
                  </a:rPr>
                  <a:t>Supermatrix codon alignment by skip-gene model</a:t>
                </a:r>
                <a:endParaRPr lang="en-US" altLang="zh-CN" sz="400"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--- TGC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CCT AAA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--- GGC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GGT GCC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GGT GCC</a:t>
                </a:r>
                <a:endPara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endPara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Partition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Gene1: 1-9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Gene2: 10-18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Gene3: 19-27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2641" y="5122"/>
                <a:ext cx="2503" cy="130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sym typeface="+mn-ea"/>
                  </a:rPr>
                  <a:t>Supermatrix codon alignment by pad-gaps model</a:t>
                </a:r>
                <a:endParaRPr lang="en-US" altLang="zh-CN" sz="400"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--- TGC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CCT AAA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--- GGC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GCT GCA GGC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GGT GCC 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GCA GCT GCC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E68822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TTA GGT GCC </a:t>
                </a: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--- --- ---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Partition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Gene1: 1-9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Gene2: 10-18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Gene3: 19-27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Gene4: 28-36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</p:txBody>
          </p:sp>
          <p:sp>
            <p:nvSpPr>
              <p:cNvPr id="40" name="右箭头 39"/>
              <p:cNvSpPr/>
              <p:nvPr/>
            </p:nvSpPr>
            <p:spPr>
              <a:xfrm rot="5400000">
                <a:off x="999" y="4889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1" name="右箭头 40"/>
              <p:cNvSpPr/>
              <p:nvPr/>
            </p:nvSpPr>
            <p:spPr>
              <a:xfrm rot="5400000">
                <a:off x="3670" y="4889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3" name="文本框 72"/>
              <p:cNvSpPr txBox="1"/>
              <p:nvPr/>
            </p:nvSpPr>
            <p:spPr>
              <a:xfrm>
                <a:off x="96" y="6418"/>
                <a:ext cx="4982" cy="2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get_supergenes.py</a:t>
                </a:r>
                <a:endPara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76" name="矩形 175"/>
            <p:cNvSpPr/>
            <p:nvPr/>
          </p:nvSpPr>
          <p:spPr>
            <a:xfrm>
              <a:off x="179" y="7080"/>
              <a:ext cx="5147" cy="2983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7" name="矩形 176"/>
          <p:cNvSpPr/>
          <p:nvPr/>
        </p:nvSpPr>
        <p:spPr>
          <a:xfrm>
            <a:off x="1863090" y="249555"/>
            <a:ext cx="3192145" cy="1515745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lumMod val="85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8" name="文本框 177"/>
          <p:cNvSpPr txBox="1"/>
          <p:nvPr/>
        </p:nvSpPr>
        <p:spPr>
          <a:xfrm>
            <a:off x="182245" y="334645"/>
            <a:ext cx="1332230" cy="13449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Input FASTA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Choose sequenece type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--seqtype codon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--seqtype prot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--seqtype nucl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Choose alignment software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--align-software </a:t>
            </a: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mafft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--align-software muscle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--align-software prank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--align-software clustalw2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Choose Trimming program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--trim-software trimAlnSeq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--trim-software </a:t>
            </a: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trimal  # -automated1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--notrim # Skip alignment trimming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</p:txBody>
      </p:sp>
      <p:grpSp>
        <p:nvGrpSpPr>
          <p:cNvPr id="214" name="组合 213"/>
          <p:cNvGrpSpPr/>
          <p:nvPr/>
        </p:nvGrpSpPr>
        <p:grpSpPr>
          <a:xfrm>
            <a:off x="1863090" y="249555"/>
            <a:ext cx="3086100" cy="1430020"/>
            <a:chOff x="2364" y="9036"/>
            <a:chExt cx="4860" cy="2252"/>
          </a:xfrm>
        </p:grpSpPr>
        <p:grpSp>
          <p:nvGrpSpPr>
            <p:cNvPr id="189" name="组合 188"/>
            <p:cNvGrpSpPr/>
            <p:nvPr/>
          </p:nvGrpSpPr>
          <p:grpSpPr>
            <a:xfrm>
              <a:off x="2364" y="9036"/>
              <a:ext cx="1328" cy="738"/>
              <a:chOff x="2391" y="9036"/>
              <a:chExt cx="1328" cy="738"/>
            </a:xfrm>
          </p:grpSpPr>
          <p:sp>
            <p:nvSpPr>
              <p:cNvPr id="180" name="文本框 179"/>
              <p:cNvSpPr txBox="1"/>
              <p:nvPr/>
            </p:nvSpPr>
            <p:spPr>
              <a:xfrm>
                <a:off x="2391" y="9036"/>
                <a:ext cx="1328" cy="28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1. Codon workfow</a:t>
                </a:r>
                <a:endPara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188" name="文本框 187"/>
              <p:cNvSpPr txBox="1"/>
              <p:nvPr/>
            </p:nvSpPr>
            <p:spPr>
              <a:xfrm>
                <a:off x="2549" y="9244"/>
                <a:ext cx="1035" cy="5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Clean CDS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grpSp>
          <p:nvGrpSpPr>
            <p:cNvPr id="190" name="组合 189"/>
            <p:cNvGrpSpPr/>
            <p:nvPr/>
          </p:nvGrpSpPr>
          <p:grpSpPr>
            <a:xfrm>
              <a:off x="2364" y="9793"/>
              <a:ext cx="1328" cy="738"/>
              <a:chOff x="2391" y="9036"/>
              <a:chExt cx="1328" cy="738"/>
            </a:xfrm>
          </p:grpSpPr>
          <p:sp>
            <p:nvSpPr>
              <p:cNvPr id="191" name="文本框 190"/>
              <p:cNvSpPr txBox="1"/>
              <p:nvPr/>
            </p:nvSpPr>
            <p:spPr>
              <a:xfrm>
                <a:off x="2391" y="9036"/>
                <a:ext cx="1328" cy="28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2. Protein workfow</a:t>
                </a:r>
                <a:endPara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192" name="文本框 191"/>
              <p:cNvSpPr txBox="1"/>
              <p:nvPr/>
            </p:nvSpPr>
            <p:spPr>
              <a:xfrm>
                <a:off x="2549" y="9244"/>
                <a:ext cx="1035" cy="5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Protein FASTA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grpSp>
          <p:nvGrpSpPr>
            <p:cNvPr id="193" name="组合 192"/>
            <p:cNvGrpSpPr/>
            <p:nvPr/>
          </p:nvGrpSpPr>
          <p:grpSpPr>
            <a:xfrm>
              <a:off x="2364" y="10550"/>
              <a:ext cx="1385" cy="738"/>
              <a:chOff x="2391" y="9036"/>
              <a:chExt cx="1385" cy="738"/>
            </a:xfrm>
          </p:grpSpPr>
          <p:sp>
            <p:nvSpPr>
              <p:cNvPr id="194" name="文本框 193"/>
              <p:cNvSpPr txBox="1"/>
              <p:nvPr/>
            </p:nvSpPr>
            <p:spPr>
              <a:xfrm>
                <a:off x="2391" y="9036"/>
                <a:ext cx="1385" cy="28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3. Nucleotide workfow</a:t>
                </a:r>
                <a:endPara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195" name="文本框 194"/>
              <p:cNvSpPr txBox="1"/>
              <p:nvPr/>
            </p:nvSpPr>
            <p:spPr>
              <a:xfrm>
                <a:off x="2549" y="9244"/>
                <a:ext cx="1035" cy="5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Nucleotide FASTA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grpSp>
          <p:nvGrpSpPr>
            <p:cNvPr id="213" name="组合 212"/>
            <p:cNvGrpSpPr/>
            <p:nvPr/>
          </p:nvGrpSpPr>
          <p:grpSpPr>
            <a:xfrm>
              <a:off x="3598" y="9263"/>
              <a:ext cx="3626" cy="2024"/>
              <a:chOff x="3598" y="9263"/>
              <a:chExt cx="3626" cy="2024"/>
            </a:xfrm>
          </p:grpSpPr>
          <p:sp>
            <p:nvSpPr>
              <p:cNvPr id="196" name="文本框 195"/>
              <p:cNvSpPr txBox="1"/>
              <p:nvPr/>
            </p:nvSpPr>
            <p:spPr>
              <a:xfrm>
                <a:off x="3868" y="9263"/>
                <a:ext cx="640" cy="5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Translate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197" name="文本框 196"/>
              <p:cNvSpPr txBox="1"/>
              <p:nvPr/>
            </p:nvSpPr>
            <p:spPr>
              <a:xfrm>
                <a:off x="4452" y="10757"/>
                <a:ext cx="1035" cy="5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Sequence Align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198" name="文本框 197"/>
              <p:cNvSpPr txBox="1"/>
              <p:nvPr/>
            </p:nvSpPr>
            <p:spPr>
              <a:xfrm>
                <a:off x="4423" y="10001"/>
                <a:ext cx="1035" cy="5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Sequence Align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199" name="文本框 198"/>
              <p:cNvSpPr txBox="1"/>
              <p:nvPr/>
            </p:nvSpPr>
            <p:spPr>
              <a:xfrm>
                <a:off x="6189" y="10001"/>
                <a:ext cx="1035" cy="5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Trim protein alignments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00" name="文本框 199"/>
              <p:cNvSpPr txBox="1"/>
              <p:nvPr/>
            </p:nvSpPr>
            <p:spPr>
              <a:xfrm>
                <a:off x="6190" y="10727"/>
                <a:ext cx="1035" cy="5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Trim n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ucleotide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alignments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01" name="文本框 200"/>
              <p:cNvSpPr txBox="1"/>
              <p:nvPr/>
            </p:nvSpPr>
            <p:spPr>
              <a:xfrm>
                <a:off x="4759" y="9263"/>
                <a:ext cx="673" cy="5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Sequence Align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02" name="文本框 201"/>
              <p:cNvSpPr txBox="1"/>
              <p:nvPr/>
            </p:nvSpPr>
            <p:spPr>
              <a:xfrm>
                <a:off x="5692" y="9263"/>
                <a:ext cx="610" cy="5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Back-translate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03" name="文本框 202"/>
              <p:cNvSpPr txBox="1"/>
              <p:nvPr/>
            </p:nvSpPr>
            <p:spPr>
              <a:xfrm>
                <a:off x="6551" y="9263"/>
                <a:ext cx="673" cy="5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Trim protein + codon alignments</a:t>
                </a:r>
                <a:endPara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04" name="右箭头 203"/>
              <p:cNvSpPr/>
              <p:nvPr/>
            </p:nvSpPr>
            <p:spPr>
              <a:xfrm>
                <a:off x="3598" y="9481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5" name="右箭头 204"/>
              <p:cNvSpPr/>
              <p:nvPr/>
            </p:nvSpPr>
            <p:spPr>
              <a:xfrm>
                <a:off x="4525" y="9481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6" name="右箭头 205"/>
              <p:cNvSpPr/>
              <p:nvPr/>
            </p:nvSpPr>
            <p:spPr>
              <a:xfrm>
                <a:off x="5444" y="9481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7" name="右箭头 206"/>
              <p:cNvSpPr/>
              <p:nvPr/>
            </p:nvSpPr>
            <p:spPr>
              <a:xfrm>
                <a:off x="6326" y="9481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8" name="右箭头 207"/>
              <p:cNvSpPr/>
              <p:nvPr/>
            </p:nvSpPr>
            <p:spPr>
              <a:xfrm>
                <a:off x="3798" y="10207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9" name="右箭头 208"/>
              <p:cNvSpPr/>
              <p:nvPr/>
            </p:nvSpPr>
            <p:spPr>
              <a:xfrm>
                <a:off x="3798" y="10932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10" name="右箭头 209"/>
              <p:cNvSpPr/>
              <p:nvPr/>
            </p:nvSpPr>
            <p:spPr>
              <a:xfrm>
                <a:off x="5738" y="10207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11" name="右箭头 210"/>
              <p:cNvSpPr/>
              <p:nvPr/>
            </p:nvSpPr>
            <p:spPr>
              <a:xfrm>
                <a:off x="5738" y="10932"/>
                <a:ext cx="225" cy="119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</p:grpSp>
      <p:sp>
        <p:nvSpPr>
          <p:cNvPr id="212" name="文本框 211"/>
          <p:cNvSpPr txBox="1"/>
          <p:nvPr/>
        </p:nvSpPr>
        <p:spPr>
          <a:xfrm>
            <a:off x="5297170" y="249555"/>
            <a:ext cx="1332230" cy="5575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noAutofit/>
          </a:bodyPr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Output FASTA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rPr>
              <a:t>Codon alignment: *.codon.aln</a:t>
            </a:r>
            <a:endParaRPr lang="en-US" altLang="zh-CN" sz="400"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Protein alignment: *.prot.aln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Nucleotide alignment: .nucl.aln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Trimmed alignment (optional): *.trimal.aln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</p:txBody>
      </p:sp>
      <p:sp>
        <p:nvSpPr>
          <p:cNvPr id="215" name="右箭头 214"/>
          <p:cNvSpPr/>
          <p:nvPr/>
        </p:nvSpPr>
        <p:spPr>
          <a:xfrm>
            <a:off x="1597660" y="99314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6" name="右箭头 215"/>
          <p:cNvSpPr/>
          <p:nvPr/>
        </p:nvSpPr>
        <p:spPr>
          <a:xfrm>
            <a:off x="5099685" y="607695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7" name="文本框 216"/>
          <p:cNvSpPr txBox="1"/>
          <p:nvPr/>
        </p:nvSpPr>
        <p:spPr>
          <a:xfrm>
            <a:off x="124460" y="12700"/>
            <a:ext cx="2603500" cy="321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en-US" sz="1000" b="1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sz="10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500" b="1">
                <a:latin typeface="Arial" panose="020B0604020202020204" pitchFamily="34" charset="0"/>
                <a:cs typeface="Arial" panose="020B0604020202020204" pitchFamily="34" charset="0"/>
              </a:rPr>
              <a:t>Multiple sequence alignment pipeline</a:t>
            </a:r>
            <a:endParaRPr lang="en-US" sz="5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8" name="矩形 217"/>
          <p:cNvSpPr/>
          <p:nvPr/>
        </p:nvSpPr>
        <p:spPr>
          <a:xfrm>
            <a:off x="124460" y="53975"/>
            <a:ext cx="6635750" cy="1794510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lumMod val="85000"/>
                  </a:schemeClr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0" name="文本框 219"/>
          <p:cNvSpPr txBox="1"/>
          <p:nvPr/>
        </p:nvSpPr>
        <p:spPr>
          <a:xfrm>
            <a:off x="71755" y="1679575"/>
            <a:ext cx="3163570" cy="1682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MSAP.py | MSAP_batch.py</a:t>
            </a:r>
            <a:endParaRPr lang="en-US" altLang="zh-CN" sz="500">
              <a:solidFill>
                <a:srgbClr val="0B8A9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1" name="文本框 220"/>
          <p:cNvSpPr txBox="1"/>
          <p:nvPr/>
        </p:nvSpPr>
        <p:spPr>
          <a:xfrm>
            <a:off x="5297170" y="1595755"/>
            <a:ext cx="1332230" cy="1695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noAutofit/>
          </a:bodyPr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MSA Matrix Connecting to Downstream Scripts</a:t>
            </a:r>
            <a:endParaRPr lang="en-US" altLang="zh-CN" sz="400">
              <a:solidFill>
                <a:schemeClr val="tx1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</p:txBody>
      </p:sp>
      <p:sp>
        <p:nvSpPr>
          <p:cNvPr id="222" name="右箭头 221"/>
          <p:cNvSpPr/>
          <p:nvPr/>
        </p:nvSpPr>
        <p:spPr>
          <a:xfrm rot="5400000">
            <a:off x="5892165" y="145415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48" name="组合 247"/>
          <p:cNvGrpSpPr/>
          <p:nvPr/>
        </p:nvGrpSpPr>
        <p:grpSpPr>
          <a:xfrm>
            <a:off x="103505" y="6440170"/>
            <a:ext cx="3274060" cy="908050"/>
            <a:chOff x="169" y="10263"/>
            <a:chExt cx="5156" cy="1430"/>
          </a:xfrm>
        </p:grpSpPr>
        <p:sp>
          <p:nvSpPr>
            <p:cNvPr id="224" name="文本框 223"/>
            <p:cNvSpPr txBox="1"/>
            <p:nvPr/>
          </p:nvSpPr>
          <p:spPr>
            <a:xfrm>
              <a:off x="317" y="10846"/>
              <a:ext cx="2098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Supermatrix codon alignment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Seq1: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GGA CCT AAA TTA ---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Seq2: ATG </a:t>
              </a: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GGA CCA AAA TTA GGT GCC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Seq3: ATG AAA TGC GGA CCA AAA TTA GGT GCC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25" name="文本框 224"/>
            <p:cNvSpPr txBox="1"/>
            <p:nvPr/>
          </p:nvSpPr>
          <p:spPr>
            <a:xfrm>
              <a:off x="3146" y="10846"/>
              <a:ext cx="2098" cy="6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Supermatrix codon alignment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Seq1: ATG </a:t>
              </a:r>
              <a:r>
                <a:rPr lang="en-US" altLang="zh-CN" sz="400" strike="sngStrike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GGA CCT AAA TTA </a:t>
              </a:r>
              <a:r>
                <a:rPr lang="en-US" altLang="zh-CN" sz="400" strike="sngStrike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Seq2: ATG </a:t>
              </a:r>
              <a:r>
                <a:rPr lang="en-US" altLang="zh-CN" sz="400" strike="sngStrike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GGA CCA AAA TTA </a:t>
              </a:r>
              <a:r>
                <a:rPr lang="en-US" altLang="zh-CN" sz="400" strike="sngStrike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GCC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 strike="sngStrike">
                  <a:solidFill>
                    <a:srgbClr val="E68822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Seq3: ATG AAA TGC GGA CCA AAA TTA GGT GCC</a:t>
              </a:r>
              <a:endParaRPr lang="en-US" altLang="zh-CN" sz="400" strike="sngStrike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27" name="右箭头 226"/>
            <p:cNvSpPr/>
            <p:nvPr/>
          </p:nvSpPr>
          <p:spPr>
            <a:xfrm>
              <a:off x="2641" y="11090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8" name="文本框 227"/>
            <p:cNvSpPr txBox="1"/>
            <p:nvPr/>
          </p:nvSpPr>
          <p:spPr>
            <a:xfrm>
              <a:off x="169" y="10339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E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Filter complete FASTA sequences (taxa) by quality and taxon lists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0" name="矩形 229"/>
            <p:cNvSpPr/>
            <p:nvPr/>
          </p:nvSpPr>
          <p:spPr>
            <a:xfrm>
              <a:off x="179" y="10263"/>
              <a:ext cx="5147" cy="1430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1" name="文本框 230"/>
            <p:cNvSpPr txBox="1"/>
            <p:nvPr/>
          </p:nvSpPr>
          <p:spPr>
            <a:xfrm>
              <a:off x="179" y="11428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filter_sequences.py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9" name="组合 248"/>
          <p:cNvGrpSpPr/>
          <p:nvPr/>
        </p:nvGrpSpPr>
        <p:grpSpPr>
          <a:xfrm>
            <a:off x="103505" y="7459345"/>
            <a:ext cx="3274695" cy="1072515"/>
            <a:chOff x="163" y="11871"/>
            <a:chExt cx="5157" cy="1689"/>
          </a:xfrm>
        </p:grpSpPr>
        <p:sp>
          <p:nvSpPr>
            <p:cNvPr id="236" name="文本框 235"/>
            <p:cNvSpPr txBox="1"/>
            <p:nvPr/>
          </p:nvSpPr>
          <p:spPr>
            <a:xfrm>
              <a:off x="163" y="11947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F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Check FASTA alignment matrices and write pass/fail QC reports.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7" name="矩形 236"/>
            <p:cNvSpPr/>
            <p:nvPr/>
          </p:nvSpPr>
          <p:spPr>
            <a:xfrm>
              <a:off x="173" y="11871"/>
              <a:ext cx="5147" cy="1688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8" name="文本框 237"/>
            <p:cNvSpPr txBox="1"/>
            <p:nvPr/>
          </p:nvSpPr>
          <p:spPr>
            <a:xfrm>
              <a:off x="179" y="13295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alignment_qc.py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0" name="文本框 239"/>
            <p:cNvSpPr txBox="1"/>
            <p:nvPr/>
          </p:nvSpPr>
          <p:spPr>
            <a:xfrm>
              <a:off x="2113" y="12455"/>
              <a:ext cx="1427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Quality control indicators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Matrix l</a:t>
              </a:r>
              <a:r>
                <a:rPr lang="zh-CN" altLang="en-US" sz="400">
                  <a:sym typeface="+mn-ea"/>
                </a:rPr>
                <a:t>ength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N</a:t>
              </a:r>
              <a:r>
                <a:rPr lang="zh-CN" altLang="en-US" sz="400">
                  <a:sym typeface="+mn-ea"/>
                </a:rPr>
                <a:t>-ratio</a:t>
              </a:r>
              <a:r>
                <a:rPr lang="en-US" altLang="zh-CN" sz="400">
                  <a:sym typeface="+mn-ea"/>
                </a:rPr>
                <a:t> ,X-raito, Gap-raito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P</a:t>
              </a:r>
              <a:r>
                <a:rPr lang="zh-CN" altLang="en-US" sz="400">
                  <a:sym typeface="+mn-ea"/>
                </a:rPr>
                <a:t>arsimony-informative-sites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T</a:t>
              </a:r>
              <a:r>
                <a:rPr lang="zh-CN" altLang="en-US" sz="400">
                  <a:sym typeface="+mn-ea"/>
                </a:rPr>
                <a:t>erminal-stop</a:t>
              </a:r>
              <a:r>
                <a:rPr lang="en-US" altLang="zh-CN" sz="400">
                  <a:sym typeface="+mn-ea"/>
                </a:rPr>
                <a:t> codon </a:t>
              </a:r>
              <a:endParaRPr lang="en-US" altLang="zh-CN" sz="400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ym typeface="+mn-ea"/>
                </a:rPr>
                <a:t>I</a:t>
              </a:r>
              <a:r>
                <a:rPr lang="zh-CN" altLang="en-US" sz="400">
                  <a:sym typeface="+mn-ea"/>
                </a:rPr>
                <a:t>nternal-stop</a:t>
              </a:r>
              <a:r>
                <a:rPr lang="en-US" altLang="zh-CN" sz="400">
                  <a:sym typeface="+mn-ea"/>
                </a:rPr>
                <a:t> codon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42" name="文本框 241"/>
            <p:cNvSpPr txBox="1"/>
            <p:nvPr/>
          </p:nvSpPr>
          <p:spPr>
            <a:xfrm>
              <a:off x="292" y="12455"/>
              <a:ext cx="1368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Multiple alignment matrix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Matrix1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Matrix2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Matrix3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Matrix4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Matrix5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43" name="文本框 242"/>
            <p:cNvSpPr txBox="1"/>
            <p:nvPr/>
          </p:nvSpPr>
          <p:spPr>
            <a:xfrm>
              <a:off x="3993" y="12454"/>
              <a:ext cx="1220" cy="8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no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Pass list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Fail list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Matrix1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     </a:t>
              </a: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Matrix2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Matrix4      Matrix3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Matrix5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45" name="右箭头 244"/>
            <p:cNvSpPr/>
            <p:nvPr/>
          </p:nvSpPr>
          <p:spPr>
            <a:xfrm>
              <a:off x="1764" y="1281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6" name="右箭头 245"/>
            <p:cNvSpPr/>
            <p:nvPr/>
          </p:nvSpPr>
          <p:spPr>
            <a:xfrm>
              <a:off x="3692" y="1281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1" name="组合 260"/>
          <p:cNvGrpSpPr/>
          <p:nvPr/>
        </p:nvGrpSpPr>
        <p:grpSpPr>
          <a:xfrm>
            <a:off x="3491865" y="6506845"/>
            <a:ext cx="3274695" cy="1172845"/>
            <a:chOff x="5467" y="10289"/>
            <a:chExt cx="5157" cy="1847"/>
          </a:xfrm>
        </p:grpSpPr>
        <p:sp>
          <p:nvSpPr>
            <p:cNvPr id="251" name="文本框 250"/>
            <p:cNvSpPr txBox="1"/>
            <p:nvPr/>
          </p:nvSpPr>
          <p:spPr>
            <a:xfrm>
              <a:off x="5615" y="10872"/>
              <a:ext cx="1438" cy="9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sym typeface="+mn-ea"/>
                </a:rPr>
                <a:t>Supermatrix codon alignment</a:t>
              </a:r>
              <a:endParaRPr lang="en-US" altLang="zh-CN" sz="400">
                <a:solidFill>
                  <a:schemeClr val="tx1"/>
                </a:solidFill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Seq1: ATG 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GCT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Seq2: ATG 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GCC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Seq3: ATG 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GCT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Seq6: ATG GCG TGC GGA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Seq5: ATG GCT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Seq6: ATG GCA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53" name="右箭头 252"/>
            <p:cNvSpPr/>
            <p:nvPr/>
          </p:nvSpPr>
          <p:spPr>
            <a:xfrm>
              <a:off x="8792" y="1126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4" name="文本框 253"/>
            <p:cNvSpPr txBox="1"/>
            <p:nvPr/>
          </p:nvSpPr>
          <p:spPr>
            <a:xfrm>
              <a:off x="5467" y="10365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Rename FASTA sequence IDs for phylogenetic software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5" name="矩形 254"/>
            <p:cNvSpPr/>
            <p:nvPr/>
          </p:nvSpPr>
          <p:spPr>
            <a:xfrm>
              <a:off x="5477" y="10289"/>
              <a:ext cx="5147" cy="1814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6" name="文本框 255"/>
            <p:cNvSpPr txBox="1"/>
            <p:nvPr/>
          </p:nvSpPr>
          <p:spPr>
            <a:xfrm>
              <a:off x="5482" y="11871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rename_taxa.py</a:t>
              </a:r>
              <a:endParaRPr lang="zh-CN" altLang="en-US" sz="500">
                <a:solidFill>
                  <a:srgbClr val="0B8A98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7" name="文本框 256"/>
            <p:cNvSpPr txBox="1"/>
            <p:nvPr/>
          </p:nvSpPr>
          <p:spPr>
            <a:xfrm>
              <a:off x="9044" y="10846"/>
              <a:ext cx="1438" cy="9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sym typeface="+mn-ea"/>
                </a:rPr>
                <a:t>Supermatrix codon alignment</a:t>
              </a:r>
              <a:endParaRPr lang="en-US" altLang="zh-CN" sz="400">
                <a:solidFill>
                  <a:schemeClr val="tx1"/>
                </a:solidFill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Species1: ATG 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GCT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Species2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: ATG 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GCC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Species3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: ATG 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GCT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Species4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: ATG GCG TGC GGA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Species5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: ATG GCT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Species6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: ATG GCA</a:t>
              </a: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58" name="文本框 257"/>
            <p:cNvSpPr txBox="1"/>
            <p:nvPr/>
          </p:nvSpPr>
          <p:spPr>
            <a:xfrm>
              <a:off x="7358" y="10872"/>
              <a:ext cx="1394" cy="9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sym typeface="+mn-ea"/>
                </a:rPr>
                <a:t>Two-column ID mapping table</a:t>
              </a:r>
              <a:endParaRPr lang="en-US" altLang="zh-CN" sz="400">
                <a:solidFill>
                  <a:schemeClr val="tx1"/>
                </a:solidFill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 Species1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 Species2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 Species3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Seq4 Species4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Seq5 Species5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Seq6 Species6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59" name="加号 258"/>
            <p:cNvSpPr/>
            <p:nvPr/>
          </p:nvSpPr>
          <p:spPr>
            <a:xfrm>
              <a:off x="7093" y="11209"/>
              <a:ext cx="225" cy="201"/>
            </a:xfrm>
            <a:prstGeom prst="mathPlus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5" name="组合 264"/>
          <p:cNvGrpSpPr/>
          <p:nvPr/>
        </p:nvGrpSpPr>
        <p:grpSpPr>
          <a:xfrm>
            <a:off x="103505" y="1945640"/>
            <a:ext cx="3290570" cy="1412240"/>
            <a:chOff x="-87" y="3190"/>
            <a:chExt cx="5182" cy="2224"/>
          </a:xfrm>
        </p:grpSpPr>
        <p:grpSp>
          <p:nvGrpSpPr>
            <p:cNvPr id="74" name="组合 73"/>
            <p:cNvGrpSpPr/>
            <p:nvPr/>
          </p:nvGrpSpPr>
          <p:grpSpPr>
            <a:xfrm>
              <a:off x="-87" y="3190"/>
              <a:ext cx="5182" cy="2224"/>
              <a:chOff x="79" y="-27"/>
              <a:chExt cx="5182" cy="2224"/>
            </a:xfrm>
          </p:grpSpPr>
          <p:sp>
            <p:nvSpPr>
              <p:cNvPr id="57" name="文本框 56"/>
              <p:cNvSpPr txBox="1"/>
              <p:nvPr/>
            </p:nvSpPr>
            <p:spPr>
              <a:xfrm>
                <a:off x="227" y="436"/>
                <a:ext cx="1428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Protein alignment (input)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</a:rPr>
                  <a:t>Seq1: M-ICXAMAXPAL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</a:rPr>
                  <a:t>Seq2: M-ICAAWAXPAL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</a:rPr>
                  <a:t>Seq3: MGICXAMAXPAL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2015" y="436"/>
                <a:ext cx="3080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</a:rPr>
                  <a:t>Raw CDS sequences (input)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Seq1: ATG ATT TGC NNN GCA ATG GCG TNG CCT GCT TTA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Seq2: ATG ATC TGC GCC GCG TGG GCA AAN CCC GCA TTA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Seq3: ATG GGG ATT TGC NNN GCT ATG GCC NAA</a:t>
                </a: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 CCG GCC TTG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79" y="-27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B</a:t>
                </a:r>
                <a:r>
                  <a:rPr lang="en-US" sz="500" b="1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endParaRPr lang="en-US"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Back-translate a protein FASTA alignment to a codon alignment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79" y="1932"/>
                <a:ext cx="4982" cy="2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zh-CN" altLang="en-US" sz="500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AA2Codon.py</a:t>
                </a:r>
                <a:endParaRPr lang="zh-CN" altLang="en-US" sz="500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1" name="矩形 60"/>
              <p:cNvSpPr/>
              <p:nvPr/>
            </p:nvSpPr>
            <p:spPr>
              <a:xfrm>
                <a:off x="114" y="-26"/>
                <a:ext cx="5147" cy="2202"/>
              </a:xfrm>
              <a:prstGeom prst="rect">
                <a:avLst/>
              </a:prstGeom>
              <a:ln w="6350">
                <a:solidFill>
                  <a:schemeClr val="bg1">
                    <a:lumMod val="8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85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4" name="文本框 63"/>
              <p:cNvSpPr txBox="1"/>
              <p:nvPr/>
            </p:nvSpPr>
            <p:spPr>
              <a:xfrm>
                <a:off x="215" y="1329"/>
                <a:ext cx="4881" cy="60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(output)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Seq1: ATG ---</a:t>
                </a: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 ATT TGC NNN GCA ATG GCG TNG CCT GCT TTA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Seq2: ATG --- ATC TGC GCC GCG TGG GCA AAN CCC GCA TTA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Seq3: ATG GGG ATT TGC NNN GCT ATG GCC NAA CCG GCC T</a:t>
                </a: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</a:rPr>
                  <a:t>TG</a:t>
                </a:r>
                <a:endParaRPr lang="en-US" altLang="zh-CN" sz="400"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</p:grpSp>
        <p:sp>
          <p:nvSpPr>
            <p:cNvPr id="263" name="加号 262"/>
            <p:cNvSpPr/>
            <p:nvPr/>
          </p:nvSpPr>
          <p:spPr>
            <a:xfrm>
              <a:off x="1539" y="3857"/>
              <a:ext cx="225" cy="201"/>
            </a:xfrm>
            <a:prstGeom prst="mathPlus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4" name="右箭头 263"/>
            <p:cNvSpPr/>
            <p:nvPr/>
          </p:nvSpPr>
          <p:spPr>
            <a:xfrm rot="5400000">
              <a:off x="1539" y="431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66" name="文本框 265"/>
          <p:cNvSpPr txBox="1"/>
          <p:nvPr/>
        </p:nvSpPr>
        <p:spPr>
          <a:xfrm>
            <a:off x="5297170" y="1068705"/>
            <a:ext cx="1332230" cy="2857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noAutofit/>
          </a:bodyPr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Run MSAP.py on multiple FASTA files concurrently with validated results and resume support by </a:t>
            </a:r>
            <a:r>
              <a:rPr lang="en-US" altLang="zh-CN" sz="400">
                <a:solidFill>
                  <a:srgbClr val="0B8A98"/>
                </a:solidFill>
                <a:latin typeface="Ubuntu Mono" panose="020B0509030602030204" charset="0"/>
                <a:cs typeface="Ubuntu Mono" panose="020B0509030602030204" charset="0"/>
                <a:sym typeface="+mn-ea"/>
              </a:rPr>
              <a:t>MSAP_batch.py script.</a:t>
            </a:r>
            <a:endParaRPr lang="en-US" altLang="zh-CN" sz="400">
              <a:solidFill>
                <a:srgbClr val="0B8A98"/>
              </a:solidFill>
              <a:latin typeface="Ubuntu Mono" panose="020B0509030602030204" charset="0"/>
              <a:cs typeface="Ubuntu Mono" panose="020B0509030602030204" charset="0"/>
              <a:sym typeface="+mn-ea"/>
            </a:endParaRPr>
          </a:p>
        </p:txBody>
      </p:sp>
      <p:sp>
        <p:nvSpPr>
          <p:cNvPr id="267" name="右箭头 266"/>
          <p:cNvSpPr/>
          <p:nvPr/>
        </p:nvSpPr>
        <p:spPr>
          <a:xfrm rot="5400000">
            <a:off x="5892165" y="88392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5667</Words>
  <Application>WPS 演示</Application>
  <PresentationFormat>宽屏</PresentationFormat>
  <Paragraphs>291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Ubuntu Mono</vt:lpstr>
      <vt:lpstr>Calibri</vt:lpstr>
      <vt:lpstr>Trebuchet MS</vt:lpstr>
      <vt:lpstr>微软雅黑</vt:lpstr>
      <vt:lpstr>Arial Unicode MS</vt:lpstr>
      <vt:lpstr>宋体</vt:lpstr>
      <vt:lpstr>Calibri Light</vt:lpstr>
      <vt:lpstr>OpenSymbol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chenguisen</cp:lastModifiedBy>
  <cp:revision>32</cp:revision>
  <dcterms:created xsi:type="dcterms:W3CDTF">2026-09-07T10:02:50Z</dcterms:created>
  <dcterms:modified xsi:type="dcterms:W3CDTF">2026-09-07T10:02:50Z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2052-12.1.0.17885</vt:lpwstr>
  </property>
  <property fmtid="{D5CDD505-2E9C-101B-9397-08002B2CF9AE}" pid="3" name="ICV">
    <vt:lpwstr>83BE8A99D134D47E7C879E6AC6495554_43</vt:lpwstr>
  </property>
</Properties>
</file>