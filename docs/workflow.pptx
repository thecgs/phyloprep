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6858000" cy="1219263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7" userDrawn="1">
          <p15:clr>
            <a:srgbClr val="A4A3A4"/>
          </p15:clr>
        </p15:guide>
        <p15:guide id="2" pos="2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8822"/>
    <a:srgbClr val="0B8A98"/>
    <a:srgbClr val="0F5FBD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917"/>
        <p:guide pos="215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371" y="1279525"/>
            <a:ext cx="1942909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857290" y="2352164"/>
            <a:ext cx="5143739" cy="3888385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857290" y="6404254"/>
            <a:ext cx="5143739" cy="2943867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4348" y="3245875"/>
            <a:ext cx="5915299" cy="773647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37" y="6669309"/>
            <a:ext cx="4118563" cy="1442554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37" y="8196412"/>
            <a:ext cx="4118563" cy="1151322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64348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64862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2403" y="649175"/>
            <a:ext cx="5915299" cy="23567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2403" y="3102458"/>
            <a:ext cx="2901390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2403" y="4650429"/>
            <a:ext cx="2901390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2024" y="3102458"/>
            <a:ext cx="2915678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2024" y="4650429"/>
            <a:ext cx="2915678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509" y="4918207"/>
            <a:ext cx="5915299" cy="2356788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63812" y="225800"/>
            <a:ext cx="2343034" cy="284508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2916135" y="1362541"/>
            <a:ext cx="3272425" cy="905768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66670" y="3657960"/>
            <a:ext cx="2343034" cy="677682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526529" y="649175"/>
            <a:ext cx="860280" cy="10333174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71509" y="649175"/>
            <a:ext cx="4995208" cy="10333174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71509" y="980617"/>
            <a:ext cx="5915299" cy="988358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509" y="649175"/>
            <a:ext cx="5915299" cy="2356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509" y="3245875"/>
            <a:ext cx="5915299" cy="773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509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818" y="11301291"/>
            <a:ext cx="231468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687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3495040" y="82550"/>
            <a:ext cx="3268345" cy="854075"/>
            <a:chOff x="5456" y="5888"/>
            <a:chExt cx="5147" cy="1345"/>
          </a:xfrm>
        </p:grpSpPr>
        <p:sp>
          <p:nvSpPr>
            <p:cNvPr id="8" name="文本框 7"/>
            <p:cNvSpPr txBox="1"/>
            <p:nvPr/>
          </p:nvSpPr>
          <p:spPr>
            <a:xfrm>
              <a:off x="5591" y="6359"/>
              <a:ext cx="147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endPara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544" y="6359"/>
              <a:ext cx="294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1st codon alignment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2nd codon alignment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3rd 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GTAATA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GAAAAG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GCGACT</a:t>
              </a:r>
              <a:endPara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456" y="588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altLang="zh-CN" sz="1000" b="1">
                  <a:latin typeface="Arial" panose="020B0604020202020204" pitchFamily="34" charset="0"/>
                  <a:cs typeface="Arial" panose="020B0604020202020204" pitchFamily="34" charset="0"/>
                </a:rPr>
                <a:t>G</a:t>
              </a:r>
              <a:endParaRPr lang="zh-CN" alt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zh-CN" alt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One codon matrix → three position matrices</a:t>
              </a:r>
              <a:endParaRPr lang="zh-CN" alt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split_codon_seqence_alignment.py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456" y="5963"/>
              <a:ext cx="5147" cy="127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右箭头 28"/>
            <p:cNvSpPr/>
            <p:nvPr/>
          </p:nvSpPr>
          <p:spPr>
            <a:xfrm>
              <a:off x="719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95040" y="1050290"/>
            <a:ext cx="3275965" cy="832485"/>
            <a:chOff x="5444" y="5922"/>
            <a:chExt cx="5159" cy="1311"/>
          </a:xfrm>
        </p:grpSpPr>
        <p:sp>
          <p:nvSpPr>
            <p:cNvPr id="43" name="文本框 42"/>
            <p:cNvSpPr txBox="1"/>
            <p:nvPr/>
          </p:nvSpPr>
          <p:spPr>
            <a:xfrm>
              <a:off x="5591" y="6359"/>
              <a:ext cx="147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GCT GCA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 GCG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AAA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CCC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GCA GCT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CAA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CCG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544" y="6359"/>
              <a:ext cx="294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Extract only third-position sites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TAGT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 CGAC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ATCG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444" y="5923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four-fold degenerate third positions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extract_4-fold_degenerated_sites.py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5456" y="5922"/>
              <a:ext cx="5147" cy="1311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右箭头 47"/>
            <p:cNvSpPr/>
            <p:nvPr/>
          </p:nvSpPr>
          <p:spPr>
            <a:xfrm>
              <a:off x="719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83185" y="3850640"/>
            <a:ext cx="3274695" cy="855345"/>
            <a:chOff x="5446" y="5886"/>
            <a:chExt cx="5157" cy="1347"/>
          </a:xfrm>
        </p:grpSpPr>
        <p:sp>
          <p:nvSpPr>
            <p:cNvPr id="50" name="文本框 49"/>
            <p:cNvSpPr txBox="1"/>
            <p:nvPr/>
          </p:nvSpPr>
          <p:spPr>
            <a:xfrm>
              <a:off x="5591" y="6359"/>
              <a:ext cx="2417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---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NNN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GCA ATG GCG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TNG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CCT GCT TTA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---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ATC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GCG TGG GCA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AAN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CCC GCA TTA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GGG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NNN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GCT ATG GCC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NAA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CCG GCC TTG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8459" y="6359"/>
              <a:ext cx="2031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Trimmed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Seq1: ATG ATT TGC GCA ATG GCG CCT GCT TTA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Seq2: ATG ATC TGC GCG TGG GCA CCC GCA TTA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Seq3: ATG ATT TGC GCT ATG GCC CCG GCC TTG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5446" y="5900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Trim poorly aligned columns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trimAlnSeq.py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456" y="5886"/>
              <a:ext cx="5147" cy="134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右箭头 54"/>
            <p:cNvSpPr/>
            <p:nvPr/>
          </p:nvSpPr>
          <p:spPr>
            <a:xfrm>
              <a:off x="8121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75" name="组合 174"/>
          <p:cNvGrpSpPr/>
          <p:nvPr/>
        </p:nvGrpSpPr>
        <p:grpSpPr>
          <a:xfrm>
            <a:off x="3495040" y="1996440"/>
            <a:ext cx="3287395" cy="1233805"/>
            <a:chOff x="5426" y="3338"/>
            <a:chExt cx="5177" cy="1943"/>
          </a:xfrm>
        </p:grpSpPr>
        <p:grpSp>
          <p:nvGrpSpPr>
            <p:cNvPr id="77" name="组合 76"/>
            <p:cNvGrpSpPr/>
            <p:nvPr/>
          </p:nvGrpSpPr>
          <p:grpSpPr>
            <a:xfrm>
              <a:off x="5426" y="3338"/>
              <a:ext cx="5177" cy="1943"/>
              <a:chOff x="5456" y="5874"/>
              <a:chExt cx="5177" cy="1943"/>
            </a:xfrm>
          </p:grpSpPr>
          <p:sp>
            <p:nvSpPr>
              <p:cNvPr id="78" name="文本框 77"/>
              <p:cNvSpPr txBox="1"/>
              <p:nvPr/>
            </p:nvSpPr>
            <p:spPr>
              <a:xfrm>
                <a:off x="5591" y="6335"/>
                <a:ext cx="1571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FASTA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&gt;Seq1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GCTGCAATGGCGTGGCCT 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&gt;Seq2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5456" y="5874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Convert a FASTA alignment to 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AXT, </a:t>
                </a: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PHYLIP, and </a:t>
                </a:r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NEXUS format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524" y="7250"/>
                <a:ext cx="1030" cy="506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fasta2axt.py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phy</a:t>
                </a:r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nex</a:t>
                </a:r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矩形 81"/>
              <p:cNvSpPr/>
              <p:nvPr/>
            </p:nvSpPr>
            <p:spPr>
              <a:xfrm>
                <a:off x="5486" y="5874"/>
                <a:ext cx="5147" cy="1943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7223" y="3799"/>
              <a:ext cx="3215" cy="1421"/>
              <a:chOff x="7223" y="3799"/>
              <a:chExt cx="3215" cy="1421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8884" y="3799"/>
                <a:ext cx="1554" cy="1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NEXUS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#NEXUS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begin data;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dimensions ntax=2 nchar=18;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format datatype=dna missing=? gap=-;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matrix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 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 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end;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223" y="4624"/>
                <a:ext cx="1554" cy="59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PHYLIP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2 18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  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  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223" y="3799"/>
                <a:ext cx="1554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AXT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&gt;Seq1|Seq2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</p:grpSp>
      </p:grpSp>
      <p:grpSp>
        <p:nvGrpSpPr>
          <p:cNvPr id="173" name="组合 172"/>
          <p:cNvGrpSpPr/>
          <p:nvPr/>
        </p:nvGrpSpPr>
        <p:grpSpPr>
          <a:xfrm>
            <a:off x="3495040" y="3343910"/>
            <a:ext cx="3272790" cy="833755"/>
            <a:chOff x="5554" y="5558"/>
            <a:chExt cx="5154" cy="1313"/>
          </a:xfrm>
        </p:grpSpPr>
        <p:grpSp>
          <p:nvGrpSpPr>
            <p:cNvPr id="87" name="组合 86"/>
            <p:cNvGrpSpPr/>
            <p:nvPr/>
          </p:nvGrpSpPr>
          <p:grpSpPr>
            <a:xfrm>
              <a:off x="5554" y="5558"/>
              <a:ext cx="5154" cy="1293"/>
              <a:chOff x="5449" y="5895"/>
              <a:chExt cx="5154" cy="1293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5591" y="6335"/>
                <a:ext cx="2253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Multiple results from codon alignment of two sequences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codon1.fasta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codon2.fasta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codon3.fasta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5449" y="5895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Calculate raw and HKY-corrected 4DTV from codon FASTA alignments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1" name="矩形 90"/>
              <p:cNvSpPr/>
              <p:nvPr/>
            </p:nvSpPr>
            <p:spPr>
              <a:xfrm>
                <a:off x="5456" y="5896"/>
                <a:ext cx="5147" cy="1292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8576" y="5998"/>
              <a:ext cx="2012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ym typeface="+mn-ea"/>
                </a:rPr>
                <a:t>Name     Seq1 Seq2  R</a:t>
              </a:r>
              <a:r>
                <a:rPr lang="zh-CN" altLang="en-US" sz="400">
                  <a:sym typeface="+mn-ea"/>
                </a:rPr>
                <a:t>aw_4dtv</a:t>
              </a:r>
              <a:r>
                <a:rPr lang="en-US" altLang="zh-CN" sz="400">
                  <a:sym typeface="+mn-ea"/>
                </a:rPr>
                <a:t>  C</a:t>
              </a:r>
              <a:r>
                <a:rPr lang="zh-CN" altLang="en-US" sz="400">
                  <a:sym typeface="+mn-ea"/>
                </a:rPr>
                <a:t>orrected_4dtv</a:t>
              </a:r>
              <a:r>
                <a:rPr lang="en-US" altLang="zh-CN" sz="400">
                  <a:sym typeface="+mn-ea"/>
                </a:rPr>
                <a:t>     </a:t>
              </a:r>
              <a:endParaRPr lang="en-US" altLang="zh-CN" sz="400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codon1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codon2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S1   S2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codon3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68" name="右箭头 167"/>
            <p:cNvSpPr/>
            <p:nvPr/>
          </p:nvSpPr>
          <p:spPr>
            <a:xfrm>
              <a:off x="8141" y="624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0" name="文本框 169"/>
            <p:cNvSpPr txBox="1"/>
            <p:nvPr/>
          </p:nvSpPr>
          <p:spPr>
            <a:xfrm>
              <a:off x="5554" y="660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sym typeface="+mn-ea"/>
                </a:rPr>
                <a:t>calulate_4dtv_and_correction.py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262" name="组合 261"/>
          <p:cNvGrpSpPr/>
          <p:nvPr/>
        </p:nvGrpSpPr>
        <p:grpSpPr>
          <a:xfrm>
            <a:off x="3495040" y="5313045"/>
            <a:ext cx="3274060" cy="1893570"/>
            <a:chOff x="169" y="7080"/>
            <a:chExt cx="5156" cy="2982"/>
          </a:xfrm>
        </p:grpSpPr>
        <p:grpSp>
          <p:nvGrpSpPr>
            <p:cNvPr id="75" name="组合 74"/>
            <p:cNvGrpSpPr/>
            <p:nvPr/>
          </p:nvGrpSpPr>
          <p:grpSpPr>
            <a:xfrm>
              <a:off x="169" y="7080"/>
              <a:ext cx="5079" cy="2983"/>
              <a:chOff x="69" y="3700"/>
              <a:chExt cx="5079" cy="298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215" y="4134"/>
                <a:ext cx="4933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Gene4 codon alignment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GCT GCA GGC</a:t>
                </a: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GCA GCT GCC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missing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69" y="370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endParaRPr lang="en-US"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Concatenate genes into a supermatrix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62" y="5816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215" y="5129"/>
                <a:ext cx="2098" cy="13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sym typeface="+mn-ea"/>
                  </a:rPr>
                  <a:t>Supermatrix codon alignment by skip-gene model</a:t>
                </a:r>
                <a:endParaRPr lang="en-US" altLang="zh-CN" sz="400"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</a:t>
                </a: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Partition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2641" y="5122"/>
                <a:ext cx="2503" cy="13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sym typeface="+mn-ea"/>
                  </a:rPr>
                  <a:t>Supermatrix codon alignment by pad-gaps model</a:t>
                </a:r>
                <a:endParaRPr lang="en-US" altLang="zh-CN" sz="400"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GCT GCA GGC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GCA GCT GCC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--- --- ---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Partition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Gene4: 28-36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40" name="右箭头 39"/>
              <p:cNvSpPr/>
              <p:nvPr/>
            </p:nvSpPr>
            <p:spPr>
              <a:xfrm rot="5400000">
                <a:off x="999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1" name="右箭头 40"/>
              <p:cNvSpPr/>
              <p:nvPr/>
            </p:nvSpPr>
            <p:spPr>
              <a:xfrm rot="5400000">
                <a:off x="3670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96" y="6418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矩形 175"/>
            <p:cNvSpPr/>
            <p:nvPr/>
          </p:nvSpPr>
          <p:spPr>
            <a:xfrm>
              <a:off x="179" y="7080"/>
              <a:ext cx="5147" cy="2983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7" name="矩形 176"/>
          <p:cNvSpPr/>
          <p:nvPr/>
        </p:nvSpPr>
        <p:spPr>
          <a:xfrm>
            <a:off x="1840865" y="7538085"/>
            <a:ext cx="3192145" cy="1515745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文本框 177"/>
          <p:cNvSpPr txBox="1"/>
          <p:nvPr/>
        </p:nvSpPr>
        <p:spPr>
          <a:xfrm>
            <a:off x="160020" y="7623175"/>
            <a:ext cx="1332230" cy="14497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Input FASTA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sequenece type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codon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prot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nucl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pseudogene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alignment software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</a:t>
            </a: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mafft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muscle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prank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clustalw2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Trimming program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--trim-software trimAlnSeq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--trim-software </a:t>
            </a: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trimal  # -automated1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--notrim # Skip alignment trimming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grpSp>
        <p:nvGrpSpPr>
          <p:cNvPr id="189" name="组合 188"/>
          <p:cNvGrpSpPr/>
          <p:nvPr/>
        </p:nvGrpSpPr>
        <p:grpSpPr>
          <a:xfrm rot="0">
            <a:off x="1840865" y="7538085"/>
            <a:ext cx="843280" cy="468630"/>
            <a:chOff x="2391" y="9036"/>
            <a:chExt cx="1328" cy="738"/>
          </a:xfrm>
        </p:grpSpPr>
        <p:sp>
          <p:nvSpPr>
            <p:cNvPr id="180" name="文本框 179"/>
            <p:cNvSpPr txBox="1"/>
            <p:nvPr/>
          </p:nvSpPr>
          <p:spPr>
            <a:xfrm>
              <a:off x="2391" y="9036"/>
              <a:ext cx="1328" cy="28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1. Codon workfow</a:t>
              </a:r>
              <a:endParaRPr lang="en-US" altLang="zh-CN" sz="5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88" name="文本框 187"/>
            <p:cNvSpPr txBox="1"/>
            <p:nvPr/>
          </p:nvSpPr>
          <p:spPr>
            <a:xfrm>
              <a:off x="2549" y="9244"/>
              <a:ext cx="1035" cy="5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CDS FASTA</a:t>
              </a:r>
              <a:b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</a:b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(Allowing stops) 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190" name="组合 189"/>
          <p:cNvGrpSpPr/>
          <p:nvPr/>
        </p:nvGrpSpPr>
        <p:grpSpPr>
          <a:xfrm rot="0">
            <a:off x="1840865" y="8018780"/>
            <a:ext cx="843280" cy="311785"/>
            <a:chOff x="2391" y="9036"/>
            <a:chExt cx="1328" cy="491"/>
          </a:xfrm>
        </p:grpSpPr>
        <p:sp>
          <p:nvSpPr>
            <p:cNvPr id="191" name="文本框 190"/>
            <p:cNvSpPr txBox="1"/>
            <p:nvPr/>
          </p:nvSpPr>
          <p:spPr>
            <a:xfrm>
              <a:off x="2391" y="9036"/>
              <a:ext cx="1328" cy="28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2. Protein workfow</a:t>
              </a:r>
              <a:endParaRPr lang="en-US" altLang="zh-CN" sz="5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92" name="文本框 191"/>
            <p:cNvSpPr txBox="1"/>
            <p:nvPr/>
          </p:nvSpPr>
          <p:spPr>
            <a:xfrm>
              <a:off x="2549" y="9244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Protein FASTA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193" name="组合 192"/>
          <p:cNvGrpSpPr/>
          <p:nvPr/>
        </p:nvGrpSpPr>
        <p:grpSpPr>
          <a:xfrm rot="0">
            <a:off x="1840865" y="8298815"/>
            <a:ext cx="879475" cy="328930"/>
            <a:chOff x="2391" y="8774"/>
            <a:chExt cx="1385" cy="518"/>
          </a:xfrm>
        </p:grpSpPr>
        <p:sp>
          <p:nvSpPr>
            <p:cNvPr id="194" name="文本框 193"/>
            <p:cNvSpPr txBox="1"/>
            <p:nvPr/>
          </p:nvSpPr>
          <p:spPr>
            <a:xfrm>
              <a:off x="2391" y="8774"/>
              <a:ext cx="1385" cy="28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3. Nucleotide workfow</a:t>
              </a:r>
              <a:endParaRPr lang="en-US" altLang="zh-CN" sz="5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95" name="文本框 194"/>
            <p:cNvSpPr txBox="1"/>
            <p:nvPr/>
          </p:nvSpPr>
          <p:spPr>
            <a:xfrm>
              <a:off x="2549" y="9009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Nucleotide FASTA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196" name="文本框 195"/>
          <p:cNvSpPr txBox="1"/>
          <p:nvPr/>
        </p:nvSpPr>
        <p:spPr>
          <a:xfrm>
            <a:off x="2795905" y="7682230"/>
            <a:ext cx="406400" cy="33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Clean CDS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+ 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Translate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166745" y="8447405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Sequence Align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8" name="文本框 197"/>
          <p:cNvSpPr txBox="1"/>
          <p:nvPr/>
        </p:nvSpPr>
        <p:spPr>
          <a:xfrm>
            <a:off x="3148330" y="8150860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Sequence Align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4270375" y="8150860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Trim protein alignments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00" name="文本框 199"/>
          <p:cNvSpPr txBox="1"/>
          <p:nvPr/>
        </p:nvSpPr>
        <p:spPr>
          <a:xfrm>
            <a:off x="4270375" y="8448040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Trim n</a:t>
            </a:r>
            <a:r>
              <a: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rPr>
              <a:t>ucleotide 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alignments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01" name="文本框 200"/>
          <p:cNvSpPr txBox="1"/>
          <p:nvPr/>
        </p:nvSpPr>
        <p:spPr>
          <a:xfrm>
            <a:off x="3361690" y="7682230"/>
            <a:ext cx="427355" cy="33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Sequence Align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02" name="文本框 201"/>
          <p:cNvSpPr txBox="1"/>
          <p:nvPr/>
        </p:nvSpPr>
        <p:spPr>
          <a:xfrm>
            <a:off x="3954145" y="7682230"/>
            <a:ext cx="387350" cy="33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Back-translate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03" name="文本框 202"/>
          <p:cNvSpPr txBox="1"/>
          <p:nvPr/>
        </p:nvSpPr>
        <p:spPr>
          <a:xfrm>
            <a:off x="4499610" y="7682230"/>
            <a:ext cx="427355" cy="33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Trim protein + codon alignments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04" name="右箭头 203"/>
          <p:cNvSpPr/>
          <p:nvPr/>
        </p:nvSpPr>
        <p:spPr>
          <a:xfrm>
            <a:off x="2624455" y="782066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5" name="右箭头 204"/>
          <p:cNvSpPr/>
          <p:nvPr/>
        </p:nvSpPr>
        <p:spPr>
          <a:xfrm>
            <a:off x="3213100" y="782066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6" name="右箭头 205"/>
          <p:cNvSpPr/>
          <p:nvPr/>
        </p:nvSpPr>
        <p:spPr>
          <a:xfrm>
            <a:off x="3796665" y="782066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7" name="右箭头 206"/>
          <p:cNvSpPr/>
          <p:nvPr/>
        </p:nvSpPr>
        <p:spPr>
          <a:xfrm>
            <a:off x="4356735" y="782066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8" name="右箭头 207"/>
          <p:cNvSpPr/>
          <p:nvPr/>
        </p:nvSpPr>
        <p:spPr>
          <a:xfrm>
            <a:off x="2795905" y="8202295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9" name="右箭头 208"/>
          <p:cNvSpPr/>
          <p:nvPr/>
        </p:nvSpPr>
        <p:spPr>
          <a:xfrm>
            <a:off x="2795905" y="848233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0" name="右箭头 209"/>
          <p:cNvSpPr/>
          <p:nvPr/>
        </p:nvSpPr>
        <p:spPr>
          <a:xfrm>
            <a:off x="3983355" y="8202295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1" name="右箭头 210"/>
          <p:cNvSpPr/>
          <p:nvPr/>
        </p:nvSpPr>
        <p:spPr>
          <a:xfrm>
            <a:off x="3983355" y="848233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2" name="文本框 211"/>
          <p:cNvSpPr txBox="1"/>
          <p:nvPr/>
        </p:nvSpPr>
        <p:spPr>
          <a:xfrm>
            <a:off x="5274945" y="7538085"/>
            <a:ext cx="1332230" cy="5575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Output FASTA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rPr>
              <a:t>Codon alignment: *.codon.aln</a:t>
            </a:r>
            <a:endParaRPr lang="en-US" altLang="zh-CN" sz="400"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Protein alignment: *.prot.aln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Nucleotide alignment: .nucl.aln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Trimmed alignment (optional): *.trimal.aln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15" name="右箭头 214"/>
          <p:cNvSpPr/>
          <p:nvPr/>
        </p:nvSpPr>
        <p:spPr>
          <a:xfrm>
            <a:off x="1575435" y="828167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6" name="右箭头 215"/>
          <p:cNvSpPr/>
          <p:nvPr/>
        </p:nvSpPr>
        <p:spPr>
          <a:xfrm>
            <a:off x="5077460" y="7896225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7" name="文本框 216"/>
          <p:cNvSpPr txBox="1"/>
          <p:nvPr/>
        </p:nvSpPr>
        <p:spPr>
          <a:xfrm>
            <a:off x="102235" y="7301230"/>
            <a:ext cx="26035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sz="1000" b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sz="1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500" b="1">
                <a:latin typeface="Arial" panose="020B0604020202020204" pitchFamily="34" charset="0"/>
                <a:cs typeface="Arial" panose="020B0604020202020204" pitchFamily="34" charset="0"/>
              </a:rPr>
              <a:t>Multiple sequence alignment pipeline</a:t>
            </a:r>
            <a:endParaRPr lang="en-US" sz="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8" name="矩形 217"/>
          <p:cNvSpPr/>
          <p:nvPr/>
        </p:nvSpPr>
        <p:spPr>
          <a:xfrm>
            <a:off x="102235" y="7300595"/>
            <a:ext cx="6668135" cy="1941195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0" name="文本框 219"/>
          <p:cNvSpPr txBox="1"/>
          <p:nvPr/>
        </p:nvSpPr>
        <p:spPr>
          <a:xfrm>
            <a:off x="91440" y="9072880"/>
            <a:ext cx="3163570" cy="1682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MSAP.py | MSAP_batch.py</a:t>
            </a:r>
            <a:endParaRPr lang="en-US" altLang="zh-CN" sz="500">
              <a:solidFill>
                <a:srgbClr val="0B8A9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1" name="文本框 220"/>
          <p:cNvSpPr txBox="1"/>
          <p:nvPr/>
        </p:nvSpPr>
        <p:spPr>
          <a:xfrm>
            <a:off x="5274945" y="8884285"/>
            <a:ext cx="1332230" cy="1695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MSA Matrix Connecting to Downstream Scripts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22" name="右箭头 221"/>
          <p:cNvSpPr/>
          <p:nvPr/>
        </p:nvSpPr>
        <p:spPr>
          <a:xfrm rot="5400000">
            <a:off x="5869940" y="874268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48" name="组合 247"/>
          <p:cNvGrpSpPr/>
          <p:nvPr/>
        </p:nvGrpSpPr>
        <p:grpSpPr>
          <a:xfrm>
            <a:off x="3495040" y="4291330"/>
            <a:ext cx="3274695" cy="908050"/>
            <a:chOff x="169" y="10263"/>
            <a:chExt cx="5157" cy="1430"/>
          </a:xfrm>
        </p:grpSpPr>
        <p:sp>
          <p:nvSpPr>
            <p:cNvPr id="224" name="文本框 223"/>
            <p:cNvSpPr txBox="1"/>
            <p:nvPr/>
          </p:nvSpPr>
          <p:spPr>
            <a:xfrm>
              <a:off x="317" y="10846"/>
              <a:ext cx="209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Supermatrix codon alignment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CCT AAA TTA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CCA AAA TTA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AAA TGC GGA CCA AAA TTA GGT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25" name="文本框 224"/>
            <p:cNvSpPr txBox="1"/>
            <p:nvPr/>
          </p:nvSpPr>
          <p:spPr>
            <a:xfrm>
              <a:off x="3146" y="10846"/>
              <a:ext cx="209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Supermatrix codon alignment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CCT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CCA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AAA TGC GGA CCA AAA TTA GGT GCC</a:t>
              </a:r>
              <a:endParaRPr lang="en-US" altLang="zh-CN" sz="400" strike="sngStrike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27" name="右箭头 226"/>
            <p:cNvSpPr/>
            <p:nvPr/>
          </p:nvSpPr>
          <p:spPr>
            <a:xfrm>
              <a:off x="2641" y="1109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文本框 227"/>
            <p:cNvSpPr txBox="1"/>
            <p:nvPr/>
          </p:nvSpPr>
          <p:spPr>
            <a:xfrm>
              <a:off x="169" y="10339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Filter complete FASTA sequences (taxa) by quality and taxon lists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179" y="10263"/>
              <a:ext cx="5147" cy="143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1" name="文本框 230"/>
            <p:cNvSpPr txBox="1"/>
            <p:nvPr/>
          </p:nvSpPr>
          <p:spPr>
            <a:xfrm>
              <a:off x="179" y="11428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filter_sequences.py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9" name="组合 248"/>
          <p:cNvGrpSpPr/>
          <p:nvPr/>
        </p:nvGrpSpPr>
        <p:grpSpPr>
          <a:xfrm>
            <a:off x="83185" y="4892675"/>
            <a:ext cx="3274695" cy="1072515"/>
            <a:chOff x="163" y="11871"/>
            <a:chExt cx="5157" cy="1689"/>
          </a:xfrm>
        </p:grpSpPr>
        <p:sp>
          <p:nvSpPr>
            <p:cNvPr id="236" name="文本框 235"/>
            <p:cNvSpPr txBox="1"/>
            <p:nvPr/>
          </p:nvSpPr>
          <p:spPr>
            <a:xfrm>
              <a:off x="163" y="11947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Check FASTA alignment matrices and write pass/fail QC reports.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7" name="矩形 236"/>
            <p:cNvSpPr/>
            <p:nvPr/>
          </p:nvSpPr>
          <p:spPr>
            <a:xfrm>
              <a:off x="173" y="11871"/>
              <a:ext cx="5147" cy="1688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8" name="文本框 237"/>
            <p:cNvSpPr txBox="1"/>
            <p:nvPr/>
          </p:nvSpPr>
          <p:spPr>
            <a:xfrm>
              <a:off x="179" y="13295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alignment_qc.py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0" name="文本框 239"/>
            <p:cNvSpPr txBox="1"/>
            <p:nvPr/>
          </p:nvSpPr>
          <p:spPr>
            <a:xfrm>
              <a:off x="2113" y="12455"/>
              <a:ext cx="1427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Quality control indicators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Matrix l</a:t>
              </a:r>
              <a:r>
                <a:rPr lang="zh-CN" altLang="en-US" sz="400">
                  <a:sym typeface="+mn-ea"/>
                </a:rPr>
                <a:t>ength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N</a:t>
              </a:r>
              <a:r>
                <a:rPr lang="zh-CN" altLang="en-US" sz="400">
                  <a:sym typeface="+mn-ea"/>
                </a:rPr>
                <a:t>-ratio</a:t>
              </a:r>
              <a:r>
                <a:rPr lang="en-US" altLang="zh-CN" sz="400">
                  <a:sym typeface="+mn-ea"/>
                </a:rPr>
                <a:t>, X-raito, Gap-raito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P</a:t>
              </a:r>
              <a:r>
                <a:rPr lang="zh-CN" altLang="en-US" sz="400">
                  <a:sym typeface="+mn-ea"/>
                </a:rPr>
                <a:t>arsimony-informative-sites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</a:t>
              </a:r>
              <a:r>
                <a:rPr lang="zh-CN" altLang="en-US" sz="400">
                  <a:sym typeface="+mn-ea"/>
                </a:rPr>
                <a:t>erminal-stop</a:t>
              </a:r>
              <a:r>
                <a:rPr lang="en-US" altLang="zh-CN" sz="400">
                  <a:sym typeface="+mn-ea"/>
                </a:rPr>
                <a:t> codon 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I</a:t>
              </a:r>
              <a:r>
                <a:rPr lang="zh-CN" altLang="en-US" sz="400">
                  <a:sym typeface="+mn-ea"/>
                </a:rPr>
                <a:t>nternal-stop</a:t>
              </a:r>
              <a:r>
                <a:rPr lang="en-US" altLang="zh-CN" sz="400">
                  <a:sym typeface="+mn-ea"/>
                </a:rPr>
                <a:t> codon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292" y="12455"/>
              <a:ext cx="1368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Multiple alignment matrix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Matrix4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3" name="文本框 242"/>
            <p:cNvSpPr txBox="1"/>
            <p:nvPr/>
          </p:nvSpPr>
          <p:spPr>
            <a:xfrm>
              <a:off x="3993" y="12454"/>
              <a:ext cx="1220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Pass list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Fail list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Matrix1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Matrix4      Matrix3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5" name="右箭头 244"/>
            <p:cNvSpPr/>
            <p:nvPr/>
          </p:nvSpPr>
          <p:spPr>
            <a:xfrm>
              <a:off x="1764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6" name="右箭头 245"/>
            <p:cNvSpPr/>
            <p:nvPr/>
          </p:nvSpPr>
          <p:spPr>
            <a:xfrm>
              <a:off x="3692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1" name="组合 260"/>
          <p:cNvGrpSpPr/>
          <p:nvPr/>
        </p:nvGrpSpPr>
        <p:grpSpPr>
          <a:xfrm>
            <a:off x="95885" y="6151880"/>
            <a:ext cx="3274695" cy="1080770"/>
            <a:chOff x="5467" y="10365"/>
            <a:chExt cx="5157" cy="1702"/>
          </a:xfrm>
        </p:grpSpPr>
        <p:sp>
          <p:nvSpPr>
            <p:cNvPr id="251" name="文本框 250"/>
            <p:cNvSpPr txBox="1"/>
            <p:nvPr/>
          </p:nvSpPr>
          <p:spPr>
            <a:xfrm>
              <a:off x="5615" y="10872"/>
              <a:ext cx="1438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GCC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Seq6: ATG GCG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Seq5: ATG GCT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Seq6: ATG GCA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3" name="右箭头 252"/>
            <p:cNvSpPr/>
            <p:nvPr/>
          </p:nvSpPr>
          <p:spPr>
            <a:xfrm>
              <a:off x="8792" y="1126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4" name="文本框 253"/>
            <p:cNvSpPr txBox="1"/>
            <p:nvPr/>
          </p:nvSpPr>
          <p:spPr>
            <a:xfrm>
              <a:off x="5467" y="10365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Rename FASTA sequence IDs for phylogenetic software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矩形 254"/>
            <p:cNvSpPr/>
            <p:nvPr/>
          </p:nvSpPr>
          <p:spPr>
            <a:xfrm>
              <a:off x="5477" y="10366"/>
              <a:ext cx="5147" cy="1663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5482" y="11802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rename_taxa.py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文本框 256"/>
            <p:cNvSpPr txBox="1"/>
            <p:nvPr/>
          </p:nvSpPr>
          <p:spPr>
            <a:xfrm>
              <a:off x="9044" y="10846"/>
              <a:ext cx="1438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Species1: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Species2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GCC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Species3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Species4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GCG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Species5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GCT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Species6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8" name="文本框 257"/>
            <p:cNvSpPr txBox="1"/>
            <p:nvPr/>
          </p:nvSpPr>
          <p:spPr>
            <a:xfrm>
              <a:off x="7358" y="10872"/>
              <a:ext cx="1394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Two-column ID mapping table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 Species1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 Species2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 Species3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Seq4 Species4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 Species5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 Species6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9" name="加号 258"/>
            <p:cNvSpPr/>
            <p:nvPr/>
          </p:nvSpPr>
          <p:spPr>
            <a:xfrm>
              <a:off x="7093" y="11209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5" name="组合 264"/>
          <p:cNvGrpSpPr/>
          <p:nvPr/>
        </p:nvGrpSpPr>
        <p:grpSpPr>
          <a:xfrm>
            <a:off x="83185" y="2251710"/>
            <a:ext cx="3274060" cy="1412240"/>
            <a:chOff x="-87" y="3190"/>
            <a:chExt cx="5156" cy="2224"/>
          </a:xfrm>
        </p:grpSpPr>
        <p:grpSp>
          <p:nvGrpSpPr>
            <p:cNvPr id="74" name="组合 73"/>
            <p:cNvGrpSpPr/>
            <p:nvPr/>
          </p:nvGrpSpPr>
          <p:grpSpPr>
            <a:xfrm>
              <a:off x="-87" y="3190"/>
              <a:ext cx="5156" cy="2224"/>
              <a:chOff x="79" y="-27"/>
              <a:chExt cx="5156" cy="2224"/>
            </a:xfrm>
          </p:grpSpPr>
          <p:sp>
            <p:nvSpPr>
              <p:cNvPr id="57" name="文本框 56"/>
              <p:cNvSpPr txBox="1"/>
              <p:nvPr/>
            </p:nvSpPr>
            <p:spPr>
              <a:xfrm>
                <a:off x="227" y="436"/>
                <a:ext cx="1428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alignment (input)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Seq1: M-ICXAMAXPAL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Seq2: M-ICAAWAXPAL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Seq3: MGICXAMAXPAL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5" y="436"/>
                <a:ext cx="3080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Raw CDS sequences (input)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ATG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ATG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ATG GGG ATT TGC NNN GCT ATG GCC NAA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CCG GCC TTG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79" y="-27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Back-translate a protein FASTA alignment to a codon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79" y="1932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AA2Codon.py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矩形 60"/>
              <p:cNvSpPr/>
              <p:nvPr/>
            </p:nvSpPr>
            <p:spPr>
              <a:xfrm>
                <a:off x="90" y="-26"/>
                <a:ext cx="5145" cy="2202"/>
              </a:xfrm>
              <a:prstGeom prst="rect">
                <a:avLst/>
              </a:prstGeom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4" name="文本框 63"/>
              <p:cNvSpPr txBox="1"/>
              <p:nvPr/>
            </p:nvSpPr>
            <p:spPr>
              <a:xfrm>
                <a:off x="215" y="1329"/>
                <a:ext cx="4881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(output)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Seq1: ATG ---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Seq2: ATG ---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Seq3: ATG GGG ATT TGC NNN GCT ATG GCC NAA CCG GCC T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TG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</p:grpSp>
        <p:sp>
          <p:nvSpPr>
            <p:cNvPr id="263" name="加号 262"/>
            <p:cNvSpPr/>
            <p:nvPr/>
          </p:nvSpPr>
          <p:spPr>
            <a:xfrm>
              <a:off x="1539" y="385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4" name="右箭头 263"/>
            <p:cNvSpPr/>
            <p:nvPr/>
          </p:nvSpPr>
          <p:spPr>
            <a:xfrm rot="5400000">
              <a:off x="1539" y="431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66" name="文本框 265"/>
          <p:cNvSpPr txBox="1"/>
          <p:nvPr/>
        </p:nvSpPr>
        <p:spPr>
          <a:xfrm>
            <a:off x="5274945" y="8357235"/>
            <a:ext cx="1332230" cy="285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Run MSAP.py on multiple FASTA files concurrently with validated results and resume support by </a:t>
            </a:r>
            <a:r>
              <a: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MSAP_batch.py script.</a:t>
            </a:r>
            <a:endParaRPr lang="en-US" altLang="zh-CN" sz="400">
              <a:solidFill>
                <a:srgbClr val="0B8A98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67" name="右箭头 266"/>
          <p:cNvSpPr/>
          <p:nvPr/>
        </p:nvSpPr>
        <p:spPr>
          <a:xfrm rot="5400000">
            <a:off x="5869940" y="817245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 rot="0">
            <a:off x="1840865" y="8609965"/>
            <a:ext cx="926465" cy="328930"/>
            <a:chOff x="2391" y="8774"/>
            <a:chExt cx="1459" cy="518"/>
          </a:xfrm>
        </p:grpSpPr>
        <p:sp>
          <p:nvSpPr>
            <p:cNvPr id="4" name="文本框 3"/>
            <p:cNvSpPr txBox="1"/>
            <p:nvPr/>
          </p:nvSpPr>
          <p:spPr>
            <a:xfrm>
              <a:off x="2391" y="8774"/>
              <a:ext cx="1459" cy="28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4. pseudogene workfow</a:t>
              </a:r>
              <a:endParaRPr lang="en-US" altLang="zh-CN" sz="5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549" y="9009"/>
              <a:ext cx="1300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CDS FASTA</a:t>
              </a:r>
              <a:b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</a:b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(Allowing frameshifts/stops) 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166745" y="8758555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Sequence Align by macse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270375" y="8759190"/>
            <a:ext cx="657225" cy="18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noAutofit/>
          </a:bodyPr>
          <a:p>
            <a:pPr indent="0" algn="ctr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Trim protein + codon alignments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9" name="右箭头 8"/>
          <p:cNvSpPr/>
          <p:nvPr/>
        </p:nvSpPr>
        <p:spPr>
          <a:xfrm>
            <a:off x="2886710" y="879348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右箭头 13"/>
          <p:cNvSpPr/>
          <p:nvPr/>
        </p:nvSpPr>
        <p:spPr>
          <a:xfrm>
            <a:off x="3983355" y="879348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3" name="组合 82"/>
          <p:cNvGrpSpPr/>
          <p:nvPr/>
        </p:nvGrpSpPr>
        <p:grpSpPr>
          <a:xfrm>
            <a:off x="83185" y="104140"/>
            <a:ext cx="3362325" cy="2005330"/>
            <a:chOff x="235" y="164"/>
            <a:chExt cx="5295" cy="3158"/>
          </a:xfrm>
        </p:grpSpPr>
        <p:sp>
          <p:nvSpPr>
            <p:cNvPr id="2" name="文本框 1"/>
            <p:cNvSpPr txBox="1"/>
            <p:nvPr/>
          </p:nvSpPr>
          <p:spPr>
            <a:xfrm>
              <a:off x="332" y="687"/>
              <a:ext cx="809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1.fa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2.fa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3.fa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taxa4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taxa5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taxa6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467" y="687"/>
              <a:ext cx="3791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Orthogroup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1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2   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3       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4   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5       </a:t>
              </a:r>
              <a:r>
                <a:rPr lang="en-US" altLang="zh-CN" sz="400">
                  <a:sym typeface="+mn-ea"/>
                </a:rPr>
                <a:t>taxa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6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OG0000000     sp1_g1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sp2_g1      sp3_g1          sp4_g1      sp5_g1      sp6_g1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OG0000001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sp1_g2                  sp3_g2,sp3_g3               sp5_g2      sp6_g2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OG0000002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sp1_g3      sp2_g2      sp3_g4          sp4_g3      sp5_g3      sp6_g3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OG0000003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sp1_g4      sp2_g3      sp3_g5,sp3_g6   sp4_g4      sp5_g4      sp6_g4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OG0000004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sp1_g5                  sp3_g7          sp4_g5      sp5_g5      sp6_g5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6" name="加号 15"/>
            <p:cNvSpPr/>
            <p:nvPr/>
          </p:nvSpPr>
          <p:spPr>
            <a:xfrm>
              <a:off x="1191" y="100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304" y="1728"/>
              <a:ext cx="4921" cy="13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zh-CN" altLang="en-US" sz="400">
                  <a:sym typeface="+mn-ea"/>
                </a:rPr>
                <a:t>--copy-mode</a:t>
              </a:r>
              <a:r>
                <a:rPr lang="en-US" altLang="zh-CN" sz="400">
                  <a:sym typeface="+mn-ea"/>
                </a:rPr>
                <a:t> </a:t>
              </a:r>
              <a:r>
                <a:rPr lang="zh-CN" altLang="en-US" sz="400">
                  <a:sym typeface="+mn-ea"/>
                </a:rPr>
                <a:t>single-copy</a:t>
              </a:r>
              <a:r>
                <a:rPr lang="en-US" altLang="zh-CN" sz="400">
                  <a:sym typeface="+mn-ea"/>
                </a:rPr>
                <a:t> --min-taxa 6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        </a:t>
              </a:r>
              <a:r>
                <a:rPr lang="zh-CN" altLang="en-US" sz="400">
                  <a:sym typeface="+mn-ea"/>
                </a:rPr>
                <a:t>--copy-mode</a:t>
              </a:r>
              <a:r>
                <a:rPr lang="en-US" altLang="zh-CN" sz="400">
                  <a:sym typeface="+mn-ea"/>
                </a:rPr>
                <a:t> </a:t>
              </a:r>
              <a:r>
                <a:rPr lang="zh-CN" altLang="en-US" sz="400">
                  <a:sym typeface="+mn-ea"/>
                </a:rPr>
                <a:t>all-copies</a:t>
              </a:r>
              <a:r>
                <a:rPr lang="en-US" altLang="zh-CN" sz="400">
                  <a:sym typeface="+mn-ea"/>
                </a:rPr>
                <a:t> --min-taxa 6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</a:t>
              </a:r>
              <a:endParaRPr lang="en-US" altLang="zh-CN" sz="400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OG0000000.fasta                                      OG0000000.fasta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OG0000002.fasta                                      OG0000002.fasta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                                          OG0000003.fasta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zh-CN" altLang="en-US" sz="400">
                  <a:sym typeface="+mn-ea"/>
                </a:rPr>
                <a:t>--copy-mode</a:t>
              </a:r>
              <a:r>
                <a:rPr lang="en-US" altLang="zh-CN" sz="400">
                  <a:sym typeface="+mn-ea"/>
                </a:rPr>
                <a:t> </a:t>
              </a:r>
              <a:r>
                <a:rPr lang="zh-CN" altLang="en-US" sz="400">
                  <a:sym typeface="+mn-ea"/>
                </a:rPr>
                <a:t>single-copy</a:t>
              </a:r>
              <a:r>
                <a:rPr lang="en-US" altLang="zh-CN" sz="400">
                  <a:sym typeface="+mn-ea"/>
                </a:rPr>
                <a:t> --min-taxa 5                                </a:t>
              </a:r>
              <a:endParaRPr lang="en-US" altLang="zh-CN" sz="400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OG0000000.fasta                                      </a:t>
              </a:r>
              <a:r>
                <a:rPr lang="zh-CN" altLang="en-US" sz="400">
                  <a:sym typeface="+mn-ea"/>
                </a:rPr>
                <a:t>--copy-mode</a:t>
              </a:r>
              <a:r>
                <a:rPr lang="en-US" altLang="zh-CN" sz="400">
                  <a:sym typeface="+mn-ea"/>
                </a:rPr>
                <a:t> </a:t>
              </a:r>
              <a:r>
                <a:rPr lang="zh-CN" altLang="en-US" sz="400">
                  <a:sym typeface="+mn-ea"/>
                </a:rPr>
                <a:t>all-copies</a:t>
              </a:r>
              <a:r>
                <a:rPr lang="en-US" altLang="zh-CN" sz="400">
                  <a:sym typeface="+mn-ea"/>
                </a:rPr>
                <a:t> --min-taxa 5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OG0000002.fasta                                      OG0000000.fasta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OG0000004.fasta                                      OG0000002.fasta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                                          OG0000003.fasta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                                          OG0000004.fasta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8" name="右箭头 27"/>
            <p:cNvSpPr/>
            <p:nvPr/>
          </p:nvSpPr>
          <p:spPr>
            <a:xfrm rot="5400000">
              <a:off x="1191" y="148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矩形 31"/>
            <p:cNvSpPr/>
            <p:nvPr/>
          </p:nvSpPr>
          <p:spPr>
            <a:xfrm>
              <a:off x="243" y="164"/>
              <a:ext cx="5147" cy="3158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235" y="305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extract_orthofinder_orthogroups.py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235" y="164"/>
              <a:ext cx="5295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selected single-copy or multi-copy sequence orthogroups from OrthoFinder Orthogroups.tsv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7030</Words>
  <Application>WPS 演示</Application>
  <PresentationFormat>宽屏</PresentationFormat>
  <Paragraphs>320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Ubuntu Mono</vt:lpstr>
      <vt:lpstr>Calibri</vt:lpstr>
      <vt:lpstr>Trebuchet MS</vt:lpstr>
      <vt:lpstr>微软雅黑</vt:lpstr>
      <vt:lpstr>Arial Unicode MS</vt:lpstr>
      <vt:lpstr>宋体</vt:lpstr>
      <vt:lpstr>Calibri Light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chenguisen</cp:lastModifiedBy>
  <cp:revision>49</cp:revision>
  <dcterms:created xsi:type="dcterms:W3CDTF">2026-09-22T13:57:34Z</dcterms:created>
  <dcterms:modified xsi:type="dcterms:W3CDTF">2026-09-22T13:57:34Z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2052-12.1.0.17885</vt:lpwstr>
  </property>
  <property fmtid="{D5CDD505-2E9C-101B-9397-08002B2CF9AE}" pid="3" name="ICV">
    <vt:lpwstr>83BE8A99D134D47E7C879E6AC6495554_43</vt:lpwstr>
  </property>
</Properties>
</file>