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6858000" cy="1219263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54" userDrawn="1">
          <p15:clr>
            <a:srgbClr val="A4A3A4"/>
          </p15:clr>
        </p15:guide>
        <p15:guide id="2" pos="2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8822"/>
    <a:srgbClr val="0F5FBD"/>
    <a:srgbClr val="F8FAFC"/>
    <a:srgbClr val="0B8A98"/>
    <a:srgbClr val="B2B2B2"/>
    <a:srgbClr val="202020"/>
    <a:srgbClr val="323232"/>
    <a:srgbClr val="CC3300"/>
    <a:srgbClr val="CC0000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954"/>
        <p:guide pos="213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81371" y="1279525"/>
            <a:ext cx="1942909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857290" y="2352164"/>
            <a:ext cx="5143739" cy="3888385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45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857290" y="6404254"/>
            <a:ext cx="5143739" cy="2943867"/>
          </a:xfrm>
        </p:spPr>
        <p:txBody>
          <a:bodyPr>
            <a:normAutofit/>
          </a:bodyPr>
          <a:lstStyle>
            <a:lvl1pPr marL="0" indent="0" algn="ctr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64348" y="3245875"/>
            <a:ext cx="5915299" cy="7736474"/>
          </a:xfrm>
        </p:spPr>
        <p:txBody>
          <a:bodyPr>
            <a:normAutofit/>
          </a:bodyPr>
          <a:lstStyle>
            <a:lvl1pPr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7937" y="6669309"/>
            <a:ext cx="4118563" cy="1442554"/>
          </a:xfrm>
        </p:spPr>
        <p:txBody>
          <a:bodyPr anchor="b">
            <a:normAutofit/>
          </a:bodyPr>
          <a:lstStyle>
            <a:lvl1pPr>
              <a:defRPr sz="3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67937" y="8196412"/>
            <a:ext cx="4118563" cy="1151322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4348" y="459503"/>
            <a:ext cx="5915299" cy="2356788"/>
          </a:xfrm>
        </p:spPr>
        <p:txBody>
          <a:bodyPr>
            <a:normAutofit/>
          </a:bodyPr>
          <a:lstStyle>
            <a:lvl1pPr>
              <a:defRPr sz="18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64348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64862" y="3245875"/>
            <a:ext cx="2914785" cy="773647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2403" y="649175"/>
            <a:ext cx="5915299" cy="235678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2403" y="3102458"/>
            <a:ext cx="2901390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72403" y="4650429"/>
            <a:ext cx="2901390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3472024" y="3102458"/>
            <a:ext cx="2915678" cy="146487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3472024" y="4650429"/>
            <a:ext cx="2915678" cy="635449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1509" y="4918207"/>
            <a:ext cx="5915299" cy="2356788"/>
          </a:xfrm>
        </p:spPr>
        <p:txBody>
          <a:bodyPr>
            <a:normAutofit/>
          </a:bodyPr>
          <a:lstStyle>
            <a:lvl1pPr algn="ctr">
              <a:defRPr sz="36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63812" y="225800"/>
            <a:ext cx="2343034" cy="2845080"/>
          </a:xfrm>
        </p:spPr>
        <p:txBody>
          <a:bodyPr anchor="ctr" anchorCtr="0">
            <a:normAutofit/>
          </a:bodyPr>
          <a:lstStyle>
            <a:lvl1pPr>
              <a:defRPr sz="18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2916135" y="1362541"/>
            <a:ext cx="3272425" cy="905768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66670" y="3657960"/>
            <a:ext cx="2343034" cy="6776824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526529" y="649175"/>
            <a:ext cx="860280" cy="10333174"/>
          </a:xfrm>
        </p:spPr>
        <p:txBody>
          <a:bodyPr vert="eaVert">
            <a:normAutofit/>
          </a:bodyPr>
          <a:lstStyle>
            <a:lvl1pPr>
              <a:defRPr sz="27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71509" y="649175"/>
            <a:ext cx="4995208" cy="10333174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471509" y="980617"/>
            <a:ext cx="5915299" cy="9883588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71509" y="649175"/>
            <a:ext cx="5915299" cy="2356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71509" y="3245875"/>
            <a:ext cx="5915299" cy="77364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509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71818" y="11301291"/>
            <a:ext cx="231468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843687" y="11301291"/>
            <a:ext cx="1543122" cy="649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组合 129"/>
          <p:cNvGrpSpPr/>
          <p:nvPr/>
        </p:nvGrpSpPr>
        <p:grpSpPr>
          <a:xfrm>
            <a:off x="45085" y="49530"/>
            <a:ext cx="6891655" cy="1392555"/>
            <a:chOff x="79" y="78"/>
            <a:chExt cx="10853" cy="2193"/>
          </a:xfrm>
        </p:grpSpPr>
        <p:sp>
          <p:nvSpPr>
            <p:cNvPr id="2" name="文本框 1"/>
            <p:cNvSpPr txBox="1"/>
            <p:nvPr/>
          </p:nvSpPr>
          <p:spPr>
            <a:xfrm>
              <a:off x="228" y="545"/>
              <a:ext cx="992" cy="956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 FASTA files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taxa4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taxa5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taxa6.fa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1544" y="545"/>
              <a:ext cx="3791" cy="956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OrthoFinder Orthogroups.tsv (example)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Orthogroup   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taxa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     taxa2           taxa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                         taxa4           taxa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5           taxa6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OG0000000         sp1_g1 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sp2_g1        sp3_g1                     sp4_g1         sp5_g1        sp6_g1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OG0000001  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sp1_g2                            sp3_g2,sp3_g3                             sp5_g2        sp6_g2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OG0000002  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sp1_g3        sp2_g2        sp3_g4                     sp4_g3         sp5_g3        sp6_g3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OG0000003  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sp1_g4        sp2_g3        sp3_g5,sp3_g6        sp4_g4         sp5_g4        sp6_g4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OG0000004   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sp1_g5                            sp3_g7                     sp4_g5         sp5_g5        sp6_g5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6" name="加号 15"/>
            <p:cNvSpPr/>
            <p:nvPr/>
          </p:nvSpPr>
          <p:spPr>
            <a:xfrm>
              <a:off x="1287" y="850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矩形 31"/>
            <p:cNvSpPr/>
            <p:nvPr/>
          </p:nvSpPr>
          <p:spPr>
            <a:xfrm>
              <a:off x="152" y="134"/>
              <a:ext cx="10519" cy="2124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79" y="2006"/>
              <a:ext cx="10853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extract_orthofinder_orthogroups.py</a:t>
              </a:r>
              <a:r>
                <a:rPr lang="en-US" altLang="zh-CN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| </a:t>
              </a:r>
              <a:r>
                <a:rPr sz="500">
                  <a:solidFill>
                    <a:srgbClr val="0F5FBD"/>
                  </a:solidFill>
                  <a:sym typeface="+mn-ea"/>
                </a:rPr>
                <a:t>orthomcl_to_orthogroups.py</a:t>
              </a:r>
              <a:r>
                <a:rPr lang="en-US" sz="500">
                  <a:solidFill>
                    <a:srgbClr val="0F5FBD"/>
                  </a:solidFill>
                  <a:sym typeface="+mn-ea"/>
                </a:rPr>
                <a:t> | </a:t>
              </a:r>
              <a:r>
                <a:rPr lang="en-US" altLang="zh-CN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sz="500">
                  <a:solidFill>
                    <a:srgbClr val="0F5FBD"/>
                  </a:solidFill>
                  <a:sym typeface="+mn-ea"/>
                </a:rPr>
                <a:t>oma_to_orthogroups.py</a:t>
              </a:r>
              <a:r>
                <a:rPr lang="en-US" sz="500">
                  <a:solidFill>
                    <a:srgbClr val="0F5FBD"/>
                  </a:solidFill>
                  <a:sym typeface="+mn-ea"/>
                </a:rPr>
                <a:t> |  </a:t>
              </a:r>
              <a:r>
                <a:rPr sz="500">
                  <a:solidFill>
                    <a:srgbClr val="0F5FBD"/>
                  </a:solidFill>
                  <a:sym typeface="+mn-ea"/>
                </a:rPr>
                <a:t>proteinortho_to_orthogroups</a:t>
              </a:r>
              <a:r>
                <a:rPr lang="en-US" sz="500">
                  <a:solidFill>
                    <a:srgbClr val="0F5FBD"/>
                  </a:solidFill>
                  <a:sym typeface="+mn-ea"/>
                </a:rPr>
                <a:t> | </a:t>
              </a:r>
              <a:r>
                <a:rPr sz="500">
                  <a:solidFill>
                    <a:srgbClr val="0F5FBD"/>
                  </a:solidFill>
                  <a:sym typeface="+mn-ea"/>
                </a:rPr>
                <a:t>sonicparanoid_to_orthogroups.py</a:t>
              </a:r>
              <a:endParaRPr 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88" y="78"/>
              <a:ext cx="5295" cy="467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selected single-copy or multi-copy sequence orthogroups from OrthoFinder Orthogroups.tsv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3498850" y="5460365"/>
            <a:ext cx="3274695" cy="841375"/>
            <a:chOff x="5446" y="5908"/>
            <a:chExt cx="5157" cy="1325"/>
          </a:xfrm>
        </p:grpSpPr>
        <p:sp>
          <p:nvSpPr>
            <p:cNvPr id="8" name="文本框 7"/>
            <p:cNvSpPr txBox="1"/>
            <p:nvPr/>
          </p:nvSpPr>
          <p:spPr>
            <a:xfrm>
              <a:off x="5591" y="6359"/>
              <a:ext cx="1732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G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</a:rPr>
                <a:t>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</a:rPr>
                <a:t>T</a:t>
              </a:r>
              <a:endParaRPr lang="en-US" altLang="zh-CN" sz="400">
                <a:solidFill>
                  <a:srgbClr val="0B8A98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7642" y="6359"/>
              <a:ext cx="2827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1st codon alignment</a:t>
              </a:r>
              <a:r>
                <a:rPr lang="en-US" altLang="zh-CN" sz="400" b="1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2nd codon alignment</a:t>
              </a:r>
              <a:r>
                <a:rPr lang="en-US" altLang="zh-CN" sz="400" b="1">
                  <a:solidFill>
                    <a:srgbClr val="0B8A98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3rd codon alignment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GTAATA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GAAAAG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AGTGCA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F5FBD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TCTGCA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</a:t>
              </a:r>
              <a:r>
                <a: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GCGACT</a:t>
              </a:r>
              <a:endParaRPr lang="en-US" altLang="zh-CN" sz="400">
                <a:solidFill>
                  <a:srgbClr val="0B8A98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446" y="590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altLang="zh-CN" sz="1000" b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endParaRPr lang="zh-CN" alt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lang="zh-CN" altLang="en-US" sz="500" b="1">
                  <a:latin typeface="Arial" panose="020B0604020202020204" pitchFamily="34" charset="0"/>
                  <a:cs typeface="Arial" panose="020B0604020202020204" pitchFamily="34" charset="0"/>
                </a:rPr>
                <a:t>One codon matrix → three position matrices</a:t>
              </a:r>
              <a:endParaRPr lang="zh-CN" altLang="en-US"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split_codon_seqence_alignment.py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5456" y="5963"/>
              <a:ext cx="5147" cy="1270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9" name="右箭头 28"/>
            <p:cNvSpPr/>
            <p:nvPr/>
          </p:nvSpPr>
          <p:spPr>
            <a:xfrm>
              <a:off x="7366" y="660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97580" y="6406515"/>
            <a:ext cx="3275965" cy="847725"/>
            <a:chOff x="5444" y="5898"/>
            <a:chExt cx="5159" cy="1335"/>
          </a:xfrm>
        </p:grpSpPr>
        <p:sp>
          <p:nvSpPr>
            <p:cNvPr id="43" name="文本框 42"/>
            <p:cNvSpPr txBox="1"/>
            <p:nvPr/>
          </p:nvSpPr>
          <p:spPr>
            <a:xfrm>
              <a:off x="5591" y="6359"/>
              <a:ext cx="1818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GCT GCA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TGG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CCT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 GCG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GCA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AAA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CCC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GCA GCT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CAA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CCG</a:t>
              </a:r>
              <a:endParaRPr lang="en-US" altLang="zh-CN" sz="400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914" y="6359"/>
              <a:ext cx="2538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Extract only third-position sites</a:t>
              </a:r>
              <a:endParaRPr lang="en-US" altLang="zh-CN" sz="400" b="1"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TAGT</a:t>
              </a:r>
              <a:endParaRPr lang="en-US" altLang="zh-CN" sz="400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 CGAC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ATCG</a:t>
              </a:r>
              <a:endParaRPr lang="en-US" altLang="zh-CN" sz="400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45" name="文本框 44"/>
            <p:cNvSpPr txBox="1"/>
            <p:nvPr/>
          </p:nvSpPr>
          <p:spPr>
            <a:xfrm>
              <a:off x="5444" y="589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J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Extract four-fold degenerate third positions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extract_4-fold_degenerated_sites.py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5456" y="5922"/>
              <a:ext cx="5147" cy="1311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8" name="右箭头 47"/>
            <p:cNvSpPr/>
            <p:nvPr/>
          </p:nvSpPr>
          <p:spPr>
            <a:xfrm>
              <a:off x="7566" y="65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45085" y="5224780"/>
            <a:ext cx="3274695" cy="855345"/>
            <a:chOff x="5446" y="5886"/>
            <a:chExt cx="5157" cy="1347"/>
          </a:xfrm>
        </p:grpSpPr>
        <p:sp>
          <p:nvSpPr>
            <p:cNvPr id="50" name="文本框 49"/>
            <p:cNvSpPr txBox="1"/>
            <p:nvPr/>
          </p:nvSpPr>
          <p:spPr>
            <a:xfrm>
              <a:off x="5591" y="6359"/>
              <a:ext cx="2275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---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NNN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GCA ATG GCG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TNG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---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ATC TGC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GCG TGG GCA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TAN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Seq3: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GGG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ATT TGC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NNN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GCT ATG GCC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NAG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endParaRPr lang="en-US" altLang="zh-CN" sz="400">
                <a:latin typeface="Liberation Mono" panose="02070409020205020404" charset="0"/>
                <a:cs typeface="Liberation Mono" panose="0207040902020502040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8258" y="6366"/>
              <a:ext cx="2262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Trimmed codon alignment 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Seq1: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ATT TGC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GCA ATG GCG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TNG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Seq2: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ATC TGC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GCC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GCG TGG GCA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TAN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Seq3: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GGG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ATT TGC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rPr>
                <a:t> GCT ATG GCC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NAG</a:t>
              </a:r>
              <a:endParaRPr lang="en-US" altLang="zh-CN" sz="400" strike="sngStrike">
                <a:solidFill>
                  <a:srgbClr val="E68822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5446" y="5900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Trim poorly aligned columns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5456" y="6967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trimAlnSeq.py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456" y="5886"/>
              <a:ext cx="5147" cy="134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5" name="右箭头 54"/>
            <p:cNvSpPr/>
            <p:nvPr/>
          </p:nvSpPr>
          <p:spPr>
            <a:xfrm>
              <a:off x="7981" y="664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175" name="组合 174"/>
          <p:cNvGrpSpPr/>
          <p:nvPr/>
        </p:nvGrpSpPr>
        <p:grpSpPr>
          <a:xfrm>
            <a:off x="3472180" y="7381240"/>
            <a:ext cx="3301365" cy="1241425"/>
            <a:chOff x="5404" y="3326"/>
            <a:chExt cx="5199" cy="1955"/>
          </a:xfrm>
        </p:grpSpPr>
        <p:grpSp>
          <p:nvGrpSpPr>
            <p:cNvPr id="77" name="组合 76"/>
            <p:cNvGrpSpPr/>
            <p:nvPr/>
          </p:nvGrpSpPr>
          <p:grpSpPr>
            <a:xfrm>
              <a:off x="5404" y="3326"/>
              <a:ext cx="5199" cy="1955"/>
              <a:chOff x="5434" y="5862"/>
              <a:chExt cx="5199" cy="1955"/>
            </a:xfrm>
          </p:grpSpPr>
          <p:sp>
            <p:nvSpPr>
              <p:cNvPr id="78" name="文本框 77"/>
              <p:cNvSpPr txBox="1"/>
              <p:nvPr/>
            </p:nvSpPr>
            <p:spPr>
              <a:xfrm>
                <a:off x="5591" y="6335"/>
                <a:ext cx="1638" cy="724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FASTA format</a:t>
                </a:r>
                <a:endParaRPr lang="en-US" altLang="zh-CN" sz="400" b="1"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&gt;Seq1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GCTGCAATGGCGTGGCCT 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&gt;Seq2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5434" y="5862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Convert a FASTA alignment to 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AXT, </a:t>
                </a: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PHYLIP, and </a:t>
                </a:r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NEXUS format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5524" y="7250"/>
                <a:ext cx="1030" cy="506"/>
              </a:xfrm>
              <a:prstGeom prst="rect">
                <a:avLst/>
              </a:prstGeom>
              <a:noFill/>
            </p:spPr>
            <p:txBody>
              <a:bodyPr wrap="square" rtlCol="0" anchor="t">
                <a:noAutofit/>
              </a:bodyPr>
              <a:p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fasta2axt.py</a:t>
                </a:r>
                <a:endPara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phy</a:t>
                </a:r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fasta2</a:t>
                </a:r>
                <a:r>
                  <a:rPr lang="en-US" altLang="zh-CN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nex</a:t>
                </a:r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.py</a:t>
                </a:r>
                <a:endPara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2" name="矩形 81"/>
              <p:cNvSpPr/>
              <p:nvPr/>
            </p:nvSpPr>
            <p:spPr>
              <a:xfrm>
                <a:off x="5486" y="5874"/>
                <a:ext cx="5147" cy="1943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7167" y="3799"/>
              <a:ext cx="3354" cy="1386"/>
              <a:chOff x="7167" y="3799"/>
              <a:chExt cx="3354" cy="1386"/>
            </a:xfrm>
          </p:grpSpPr>
          <p:sp>
            <p:nvSpPr>
              <p:cNvPr id="84" name="文本框 83"/>
              <p:cNvSpPr txBox="1"/>
              <p:nvPr/>
            </p:nvSpPr>
            <p:spPr>
              <a:xfrm>
                <a:off x="8885" y="3799"/>
                <a:ext cx="1636" cy="1385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NEXUS format</a:t>
                </a:r>
                <a:endPara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#NEXUS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begin data;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dimensions ntax=2 nchar=18;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format datatype=dna missing=? gap=-;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matrix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Seq1 GCTGCAATGGCGTGGCCT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Seq2 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end;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7167" y="4589"/>
                <a:ext cx="1652" cy="596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PHYLIP format</a:t>
                </a:r>
                <a:endPara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2 18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Seq1  GCTGCAATGGCGTGGCCT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Seq2  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86" name="文本框 85"/>
              <p:cNvSpPr txBox="1"/>
              <p:nvPr/>
            </p:nvSpPr>
            <p:spPr>
              <a:xfrm>
                <a:off x="7265" y="3799"/>
                <a:ext cx="1554" cy="724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no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of AXT format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&gt;Seq1|Seq2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GCTGCAATGGCGTGGCCT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GCCGCGTGGGCAAAACCC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</p:grpSp>
      </p:grpSp>
      <p:grpSp>
        <p:nvGrpSpPr>
          <p:cNvPr id="173" name="组合 172"/>
          <p:cNvGrpSpPr/>
          <p:nvPr/>
        </p:nvGrpSpPr>
        <p:grpSpPr>
          <a:xfrm>
            <a:off x="3500755" y="8712200"/>
            <a:ext cx="3272790" cy="855980"/>
            <a:chOff x="5554" y="5523"/>
            <a:chExt cx="5154" cy="1348"/>
          </a:xfrm>
        </p:grpSpPr>
        <p:grpSp>
          <p:nvGrpSpPr>
            <p:cNvPr id="87" name="组合 86"/>
            <p:cNvGrpSpPr/>
            <p:nvPr/>
          </p:nvGrpSpPr>
          <p:grpSpPr>
            <a:xfrm>
              <a:off x="5554" y="5523"/>
              <a:ext cx="5154" cy="1328"/>
              <a:chOff x="5449" y="5860"/>
              <a:chExt cx="5154" cy="1328"/>
            </a:xfrm>
          </p:grpSpPr>
          <p:sp>
            <p:nvSpPr>
              <p:cNvPr id="88" name="文本框 87"/>
              <p:cNvSpPr txBox="1"/>
              <p:nvPr/>
            </p:nvSpPr>
            <p:spPr>
              <a:xfrm>
                <a:off x="5591" y="6335"/>
                <a:ext cx="2435" cy="608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Multiple results from codon alignment of two sequences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Ubuntu Mono" panose="020B0509030602030204" charset="0"/>
                    <a:cs typeface="Ubuntu Mono" panose="020B0509030602030204" charset="0"/>
                  </a:rPr>
                  <a:t>codon1.fasta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codon2.fasta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Ubuntu Mono" panose="020B0509030602030204" charset="0"/>
                    <a:cs typeface="Ubuntu Mono" panose="020B0509030602030204" charset="0"/>
                    <a:sym typeface="+mn-ea"/>
                  </a:rPr>
                  <a:t>codon3.fasta</a:t>
                </a:r>
                <a:endPara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</a:endParaRP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5449" y="5860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endParaRPr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Calculate raw and HKY-corrected 4DTV from codon FASTA alignments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91" name="矩形 90"/>
              <p:cNvSpPr/>
              <p:nvPr/>
            </p:nvSpPr>
            <p:spPr>
              <a:xfrm>
                <a:off x="5456" y="5896"/>
                <a:ext cx="5147" cy="1292"/>
              </a:xfrm>
              <a:prstGeom prst="rect">
                <a:avLst/>
              </a:prstGeom>
              <a:noFill/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67" name="文本框 166"/>
            <p:cNvSpPr txBox="1"/>
            <p:nvPr/>
          </p:nvSpPr>
          <p:spPr>
            <a:xfrm>
              <a:off x="8315" y="5998"/>
              <a:ext cx="2251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Name       Seq1   Seq2   R</a:t>
              </a:r>
              <a:r>
                <a:rPr lang="zh-CN" altLang="en-US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aw_4dtv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C</a:t>
              </a:r>
              <a:r>
                <a:rPr lang="zh-CN" altLang="en-US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orrected_4dtv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r>
                <a:rPr lang="en-US" altLang="zh-CN" sz="400" b="1">
                  <a:sym typeface="+mn-ea"/>
                </a:rPr>
                <a:t>    </a:t>
              </a:r>
              <a:endParaRPr lang="en-US" altLang="zh-CN" sz="400" b="1"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codon1   S1   S2    XX          XX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codon2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S1   S2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 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XX          XX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codon3</a:t>
              </a: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  S1   S2    XX          XX 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168" name="右箭头 167"/>
            <p:cNvSpPr/>
            <p:nvPr/>
          </p:nvSpPr>
          <p:spPr>
            <a:xfrm>
              <a:off x="8046" y="624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0" name="文本框 169"/>
            <p:cNvSpPr txBox="1"/>
            <p:nvPr/>
          </p:nvSpPr>
          <p:spPr>
            <a:xfrm>
              <a:off x="5554" y="660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calulate_4dtv_and_correction.py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132" name="组合 131"/>
          <p:cNvGrpSpPr/>
          <p:nvPr/>
        </p:nvGrpSpPr>
        <p:grpSpPr>
          <a:xfrm>
            <a:off x="3498850" y="3601085"/>
            <a:ext cx="3274695" cy="1795780"/>
            <a:chOff x="5504" y="5569"/>
            <a:chExt cx="5157" cy="2828"/>
          </a:xfrm>
        </p:grpSpPr>
        <p:grpSp>
          <p:nvGrpSpPr>
            <p:cNvPr id="75" name="组合 74"/>
            <p:cNvGrpSpPr/>
            <p:nvPr/>
          </p:nvGrpSpPr>
          <p:grpSpPr>
            <a:xfrm rot="0">
              <a:off x="5504" y="5569"/>
              <a:ext cx="5079" cy="2827"/>
              <a:chOff x="69" y="3670"/>
              <a:chExt cx="5079" cy="2827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215" y="4134"/>
                <a:ext cx="4933" cy="608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 codon alignment</a:t>
                </a:r>
                <a:r>
                  <a:rPr lang="en-US" altLang="zh-CN" sz="400" b="1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          </a:t>
                </a: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 codon alignment</a:t>
                </a:r>
                <a:r>
                  <a:rPr lang="en-US" altLang="zh-CN" sz="400" b="1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          </a:t>
                </a: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 codon alignment</a:t>
                </a:r>
                <a:r>
                  <a:rPr lang="en-US" altLang="zh-CN" sz="400" b="1">
                    <a:solidFill>
                      <a:srgbClr val="0B8A98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           </a:t>
                </a: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Gene4 codon alignment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--- TGC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CCT AAA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--- GGC       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GCT GCA GGC</a:t>
                </a:r>
                <a:endPara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     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GCA GCT GCC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    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     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</p:txBody>
          </p:sp>
          <p:sp>
            <p:nvSpPr>
              <p:cNvPr id="34" name="文本框 33"/>
              <p:cNvSpPr txBox="1"/>
              <p:nvPr/>
            </p:nvSpPr>
            <p:spPr>
              <a:xfrm>
                <a:off x="69" y="3670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endParaRPr lang="en-US" sz="10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Concatenate genes into a supermatrix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62" y="5816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右箭头 39"/>
              <p:cNvSpPr/>
              <p:nvPr/>
            </p:nvSpPr>
            <p:spPr>
              <a:xfrm rot="5400000">
                <a:off x="2374" y="4790"/>
                <a:ext cx="141" cy="120"/>
              </a:xfrm>
              <a:prstGeom prst="rightArrow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3" name="文本框 72"/>
              <p:cNvSpPr txBox="1"/>
              <p:nvPr/>
            </p:nvSpPr>
            <p:spPr>
              <a:xfrm>
                <a:off x="96" y="6232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get_supergenes.py</a:t>
                </a:r>
                <a:endPara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215" y="4943"/>
                <a:ext cx="4932" cy="1288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no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Supermatrix codon alignment by skip-gene model        Supermatrix codon alignment by pad-gaps model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--- GGC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---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CCT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--- GGC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GCT GCA GGC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GCA GCT GCC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</a:t>
                </a:r>
                <a:r>
                  <a:rPr lang="en-US" altLang="zh-CN" sz="400">
                    <a:solidFill>
                      <a:srgbClr val="E68822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ATG AAA TGC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F5FBD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GGA CCA AAA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</a:t>
                </a:r>
                <a:r>
                  <a:rPr lang="en-US" altLang="zh-CN" sz="400">
                    <a:solidFill>
                      <a:srgbClr val="0B8A98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TTA GGT GCC 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--- --- ---</a:t>
                </a:r>
                <a:endParaRPr lang="en-US" altLang="zh-CN" sz="400">
                  <a:solidFill>
                    <a:srgbClr val="0B8A98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endParaRPr lang="en-US" altLang="zh-CN" sz="400">
                  <a:solidFill>
                    <a:srgbClr val="0B8A98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Partition  </a:t>
                </a: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                                                                            </a:t>
                </a: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Partition</a:t>
                </a:r>
                <a:endPara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Gene1: 1-9    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Gene1: 1-9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Gene2: 10-18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Gene2: 10-18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Gene3: 19-27                                                                        </a:t>
                </a: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Gene3: 19-27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                                                                                             Gene4: 28-36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176" name="矩形 175"/>
            <p:cNvSpPr/>
            <p:nvPr/>
          </p:nvSpPr>
          <p:spPr>
            <a:xfrm>
              <a:off x="5514" y="5599"/>
              <a:ext cx="5147" cy="2798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48" name="组合 247"/>
          <p:cNvGrpSpPr/>
          <p:nvPr/>
        </p:nvGrpSpPr>
        <p:grpSpPr>
          <a:xfrm>
            <a:off x="45085" y="6278245"/>
            <a:ext cx="3274695" cy="828675"/>
            <a:chOff x="169" y="10388"/>
            <a:chExt cx="5157" cy="1305"/>
          </a:xfrm>
        </p:grpSpPr>
        <p:sp>
          <p:nvSpPr>
            <p:cNvPr id="224" name="文本框 223"/>
            <p:cNvSpPr txBox="1"/>
            <p:nvPr/>
          </p:nvSpPr>
          <p:spPr>
            <a:xfrm>
              <a:off x="317" y="10846"/>
              <a:ext cx="2325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CCT AAA TTA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ATG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CCA AAA TTA </a:t>
              </a: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ATG AAA TGC GGA CCA AAA TTA GGT GCC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25" name="文本框 224"/>
            <p:cNvSpPr txBox="1"/>
            <p:nvPr/>
          </p:nvSpPr>
          <p:spPr>
            <a:xfrm>
              <a:off x="2981" y="10846"/>
              <a:ext cx="2263" cy="60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CCT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ATG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---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 CCA AAA TTA </a:t>
              </a: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NNN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GCC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 strike="sngStrike">
                  <a:solidFill>
                    <a:srgbClr val="E68822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ATG AAA TGC GGA CCA AAA TTA GGT GCC</a:t>
              </a:r>
              <a:endParaRPr lang="en-US" altLang="zh-CN" sz="400" strike="sngStrike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27" name="右箭头 226"/>
            <p:cNvSpPr/>
            <p:nvPr/>
          </p:nvSpPr>
          <p:spPr>
            <a:xfrm>
              <a:off x="2704" y="11090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8" name="文本框 227"/>
            <p:cNvSpPr txBox="1"/>
            <p:nvPr/>
          </p:nvSpPr>
          <p:spPr>
            <a:xfrm>
              <a:off x="169" y="1038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E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Filter complete FASTA sequences (taxa) by quality and taxon lists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179" y="10436"/>
              <a:ext cx="5147" cy="125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1" name="文本框 230"/>
            <p:cNvSpPr txBox="1"/>
            <p:nvPr/>
          </p:nvSpPr>
          <p:spPr>
            <a:xfrm>
              <a:off x="179" y="11428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filter_sequences.py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9" name="组合 248"/>
          <p:cNvGrpSpPr/>
          <p:nvPr/>
        </p:nvGrpSpPr>
        <p:grpSpPr>
          <a:xfrm>
            <a:off x="45085" y="7305040"/>
            <a:ext cx="3291205" cy="1004570"/>
            <a:chOff x="137" y="11978"/>
            <a:chExt cx="5183" cy="1582"/>
          </a:xfrm>
        </p:grpSpPr>
        <p:sp>
          <p:nvSpPr>
            <p:cNvPr id="236" name="文本框 235"/>
            <p:cNvSpPr txBox="1"/>
            <p:nvPr/>
          </p:nvSpPr>
          <p:spPr>
            <a:xfrm>
              <a:off x="137" y="11978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F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Check FASTA alignment matrices and write pass/fail QC reports.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7" name="矩形 236"/>
            <p:cNvSpPr/>
            <p:nvPr/>
          </p:nvSpPr>
          <p:spPr>
            <a:xfrm>
              <a:off x="173" y="12030"/>
              <a:ext cx="5147" cy="1529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8" name="文本框 237"/>
            <p:cNvSpPr txBox="1"/>
            <p:nvPr/>
          </p:nvSpPr>
          <p:spPr>
            <a:xfrm>
              <a:off x="179" y="13295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alignment_qc.py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0" name="文本框 239"/>
            <p:cNvSpPr txBox="1"/>
            <p:nvPr/>
          </p:nvSpPr>
          <p:spPr>
            <a:xfrm>
              <a:off x="2113" y="12455"/>
              <a:ext cx="1427" cy="84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Quality control indicators</a:t>
              </a:r>
              <a:endParaRPr lang="en-US" altLang="zh-CN" sz="400" b="1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 l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ength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-ratio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, X-raito, Gap-raito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arsimony-informative-sites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erminal-stop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codon 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I</a:t>
              </a:r>
              <a:r>
                <a:rPr lang="zh-CN" altLang="en-US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nternal-stop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codon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292" y="12455"/>
              <a:ext cx="1368" cy="84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Multiple alignment matrix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Matrix1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Matrix3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Matrix4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43" name="文本框 242"/>
            <p:cNvSpPr txBox="1"/>
            <p:nvPr/>
          </p:nvSpPr>
          <p:spPr>
            <a:xfrm>
              <a:off x="3993" y="12454"/>
              <a:ext cx="1220" cy="84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Pass list    </a:t>
              </a:r>
              <a:r>
                <a:rPr lang="en-US" altLang="zh-CN" sz="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Fail list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Matrix1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     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Matrix4      Matrix3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Matrix5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245" name="右箭头 244"/>
            <p:cNvSpPr/>
            <p:nvPr/>
          </p:nvSpPr>
          <p:spPr>
            <a:xfrm>
              <a:off x="1764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6" name="右箭头 245"/>
            <p:cNvSpPr/>
            <p:nvPr/>
          </p:nvSpPr>
          <p:spPr>
            <a:xfrm>
              <a:off x="3692" y="1281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1" name="组合 260"/>
          <p:cNvGrpSpPr/>
          <p:nvPr/>
        </p:nvGrpSpPr>
        <p:grpSpPr>
          <a:xfrm>
            <a:off x="45085" y="8507730"/>
            <a:ext cx="3277235" cy="1060450"/>
            <a:chOff x="5463" y="10397"/>
            <a:chExt cx="5161" cy="1670"/>
          </a:xfrm>
        </p:grpSpPr>
        <p:sp>
          <p:nvSpPr>
            <p:cNvPr id="251" name="文本框 250"/>
            <p:cNvSpPr txBox="1"/>
            <p:nvPr/>
          </p:nvSpPr>
          <p:spPr>
            <a:xfrm>
              <a:off x="5615" y="10872"/>
              <a:ext cx="1438" cy="956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 b="1">
                <a:solidFill>
                  <a:schemeClr val="tx1"/>
                </a:solidFill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Seq1: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Seq2: ATG GCC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Seq3: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Seq6: ATG GCG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Seq5: ATG GCT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Seq6: ATG GCA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53" name="右箭头 252"/>
            <p:cNvSpPr/>
            <p:nvPr/>
          </p:nvSpPr>
          <p:spPr>
            <a:xfrm>
              <a:off x="8752" y="1126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4" name="文本框 253"/>
            <p:cNvSpPr txBox="1"/>
            <p:nvPr/>
          </p:nvSpPr>
          <p:spPr>
            <a:xfrm>
              <a:off x="5463" y="10397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G</a:t>
              </a:r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sz="500" b="1">
                  <a:latin typeface="Arial" panose="020B0604020202020204" pitchFamily="34" charset="0"/>
                  <a:cs typeface="Arial" panose="020B0604020202020204" pitchFamily="34" charset="0"/>
                </a:rPr>
                <a:t>Rename FASTA sequence IDs for phylogenetic software</a:t>
              </a:r>
              <a:endParaRPr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5" name="矩形 254"/>
            <p:cNvSpPr/>
            <p:nvPr/>
          </p:nvSpPr>
          <p:spPr>
            <a:xfrm>
              <a:off x="5477" y="10404"/>
              <a:ext cx="5147" cy="1625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6" name="文本框 255"/>
            <p:cNvSpPr txBox="1"/>
            <p:nvPr/>
          </p:nvSpPr>
          <p:spPr>
            <a:xfrm>
              <a:off x="5482" y="11802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rename_taxa.py</a:t>
              </a:r>
              <a:endParaRPr lang="zh-CN" altLang="en-US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7" name="文本框 256"/>
            <p:cNvSpPr txBox="1"/>
            <p:nvPr/>
          </p:nvSpPr>
          <p:spPr>
            <a:xfrm>
              <a:off x="9003" y="10872"/>
              <a:ext cx="1494" cy="956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Supermatrix codon alignment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Species1: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Species2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GCC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Species3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GCT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Species4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GCG TGC GGA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Species5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GCT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Species6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: ATG GCA</a:t>
              </a:r>
              <a:r>
                <a: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rPr>
                <a:t> TGC GGC</a:t>
              </a:r>
              <a:endParaRPr lang="en-US" altLang="zh-CN" sz="400">
                <a:solidFill>
                  <a:schemeClr val="tx1"/>
                </a:solidFill>
                <a:latin typeface="Liberation Mono" panose="02070409020205020404" charset="0"/>
                <a:cs typeface="Liberation Mono" panose="02070409020205020404" charset="0"/>
                <a:sym typeface="+mn-ea"/>
              </a:endParaRPr>
            </a:p>
          </p:txBody>
        </p:sp>
        <p:sp>
          <p:nvSpPr>
            <p:cNvPr id="258" name="文本框 257"/>
            <p:cNvSpPr txBox="1"/>
            <p:nvPr/>
          </p:nvSpPr>
          <p:spPr>
            <a:xfrm>
              <a:off x="7313" y="10872"/>
              <a:ext cx="1440" cy="956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spAutoFit/>
            </a:bodyPr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Two-column ID mapping table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solidFill>
                    <a:schemeClr val="tx1"/>
                  </a:solidFill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Seq1 Species1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Seq2 Species2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Seq3 Species3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Seq4 Species4</a:t>
              </a:r>
              <a:endParaRPr lang="en-US" altLang="zh-CN" sz="400"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Seq5 Species5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  <a:p>
              <a:pPr algn="l" fontAlgn="auto">
                <a:lnSpc>
                  <a:spcPct val="120000"/>
                </a:lnSpc>
                <a:buClrTx/>
                <a:buSzTx/>
                <a:buFontTx/>
              </a:pPr>
              <a:r>
                <a:rPr lang="en-US" altLang="zh-CN" sz="400">
                  <a:latin typeface="Ubuntu Mono" panose="020B0509030602030204" charset="0"/>
                  <a:cs typeface="Ubuntu Mono" panose="020B0509030602030204" charset="0"/>
                  <a:sym typeface="+mn-ea"/>
                </a:rPr>
                <a:t>Seq6 Species6</a:t>
              </a:r>
              <a:endParaRPr lang="en-US" altLang="zh-CN" sz="400">
                <a:solidFill>
                  <a:schemeClr val="tx1"/>
                </a:solidFill>
                <a:latin typeface="Ubuntu Mono" panose="020B0509030602030204" charset="0"/>
                <a:cs typeface="Ubuntu Mono" panose="020B0509030602030204" charset="0"/>
                <a:sym typeface="+mn-ea"/>
              </a:endParaRPr>
            </a:p>
          </p:txBody>
        </p:sp>
        <p:sp>
          <p:nvSpPr>
            <p:cNvPr id="259" name="加号 258"/>
            <p:cNvSpPr/>
            <p:nvPr/>
          </p:nvSpPr>
          <p:spPr>
            <a:xfrm>
              <a:off x="7078" y="11209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5" name="组合 264"/>
          <p:cNvGrpSpPr/>
          <p:nvPr/>
        </p:nvGrpSpPr>
        <p:grpSpPr>
          <a:xfrm>
            <a:off x="45085" y="3614420"/>
            <a:ext cx="3274060" cy="1412240"/>
            <a:chOff x="-87" y="3190"/>
            <a:chExt cx="5156" cy="2224"/>
          </a:xfrm>
        </p:grpSpPr>
        <p:grpSp>
          <p:nvGrpSpPr>
            <p:cNvPr id="74" name="组合 73"/>
            <p:cNvGrpSpPr/>
            <p:nvPr/>
          </p:nvGrpSpPr>
          <p:grpSpPr>
            <a:xfrm>
              <a:off x="-87" y="3190"/>
              <a:ext cx="5156" cy="2224"/>
              <a:chOff x="79" y="-27"/>
              <a:chExt cx="5156" cy="2224"/>
            </a:xfrm>
          </p:grpSpPr>
          <p:sp>
            <p:nvSpPr>
              <p:cNvPr id="57" name="文本框 56"/>
              <p:cNvSpPr txBox="1"/>
              <p:nvPr/>
            </p:nvSpPr>
            <p:spPr>
              <a:xfrm>
                <a:off x="227" y="436"/>
                <a:ext cx="1428" cy="608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alignment (input)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Seq1: M-ICXAMAXPAL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Seq2: M-ICAAWAXPAL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Seq3: MGICXAMAXPAL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5" y="436"/>
                <a:ext cx="3080" cy="608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spAutoFit/>
              </a:bodyPr>
              <a:p>
                <a:pPr algn="l" fontAlgn="auto">
                  <a:lnSpc>
                    <a:spcPct val="120000"/>
                  </a:lnSpc>
                  <a:buClrTx/>
                  <a:buSzTx/>
                  <a:buFontTx/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</a:rPr>
                  <a:t>Raw CDS sequences (input)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Seq1: ATG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Seq2: ATG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Seq3: ATG GGG ATT TGC NNN GCT ATG GCC NAA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  <a:sym typeface="+mn-ea"/>
                  </a:rPr>
                  <a:t> CCG GCC TTG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  <a:sym typeface="+mn-ea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79" y="-27"/>
                <a:ext cx="4100" cy="50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l"/>
                <a:r>
                  <a:rPr lang="en-US" sz="1000" b="1">
                    <a:latin typeface="Arial" panose="020B0604020202020204" pitchFamily="34" charset="0"/>
                    <a:cs typeface="Arial" panose="020B0604020202020204" pitchFamily="34" charset="0"/>
                  </a:rPr>
                  <a:t>C</a:t>
                </a:r>
                <a:r>
                  <a:rPr lang="en-US" sz="500" b="1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lang="en-US"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l"/>
                <a:r>
                  <a:rPr sz="500" b="1">
                    <a:latin typeface="Arial" panose="020B0604020202020204" pitchFamily="34" charset="0"/>
                    <a:cs typeface="Arial" panose="020B0604020202020204" pitchFamily="34" charset="0"/>
                  </a:rPr>
                  <a:t>Back-translate a protein FASTA alignment to a codon alignment</a:t>
                </a:r>
                <a:endParaRPr sz="5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79" y="1932"/>
                <a:ext cx="4982" cy="2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r>
                  <a:rPr lang="zh-CN" altLang="en-US" sz="500">
                    <a:solidFill>
                      <a:srgbClr val="0F5FBD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AA2Codon.py</a:t>
                </a:r>
                <a:endParaRPr lang="zh-CN" altLang="en-US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61" name="矩形 60"/>
              <p:cNvSpPr/>
              <p:nvPr/>
            </p:nvSpPr>
            <p:spPr>
              <a:xfrm>
                <a:off x="90" y="-26"/>
                <a:ext cx="5145" cy="2202"/>
              </a:xfrm>
              <a:prstGeom prst="rect">
                <a:avLst/>
              </a:prstGeom>
              <a:ln w="6350">
                <a:solidFill>
                  <a:schemeClr val="bg1">
                    <a:lumMod val="85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bg1">
                        <a:lumMod val="85000"/>
                      </a:schemeClr>
                    </a:solidFill>
                  </a14:hiddenFill>
                </a:ext>
              </a:extLst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4" name="文本框 63"/>
              <p:cNvSpPr txBox="1"/>
              <p:nvPr/>
            </p:nvSpPr>
            <p:spPr>
              <a:xfrm>
                <a:off x="215" y="1329"/>
                <a:ext cx="4881" cy="608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Codon alignment (output)</a:t>
                </a:r>
                <a:endParaRPr lang="en-US" altLang="zh-CN" sz="4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Seq1: ATG ---</a:t>
                </a: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 ATT TGC NNN GCA ATG GCG TNG CCT GCT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Seq2: ATG --- ATC TGC GCC GCG TGG GCA AAN CCC GCA TTA</a:t>
                </a:r>
                <a:endParaRPr lang="en-US" altLang="zh-CN" sz="400">
                  <a:solidFill>
                    <a:schemeClr val="tx1"/>
                  </a:solidFill>
                  <a:latin typeface="Liberation Mono" panose="02070409020205020404" charset="0"/>
                  <a:cs typeface="Liberation Mono" panose="02070409020205020404" charset="0"/>
                </a:endParaRPr>
              </a:p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Liberation Mono" panose="02070409020205020404" charset="0"/>
                    <a:cs typeface="Liberation Mono" panose="02070409020205020404" charset="0"/>
                  </a:rPr>
                  <a:t>Seq3: ATG GGG ATT TGC NNN GCT ATG GCC NAA CCG GCC T</a:t>
                </a:r>
                <a:r>
                  <a:rPr lang="en-US" altLang="zh-CN" sz="400">
                    <a:latin typeface="Liberation Mono" panose="02070409020205020404" charset="0"/>
                    <a:cs typeface="Liberation Mono" panose="02070409020205020404" charset="0"/>
                  </a:rPr>
                  <a:t>TG</a:t>
                </a:r>
                <a:endParaRPr lang="en-US" altLang="zh-CN" sz="400">
                  <a:latin typeface="Liberation Mono" panose="02070409020205020404" charset="0"/>
                  <a:cs typeface="Liberation Mono" panose="02070409020205020404" charset="0"/>
                </a:endParaRPr>
              </a:p>
            </p:txBody>
          </p:sp>
        </p:grpSp>
        <p:sp>
          <p:nvSpPr>
            <p:cNvPr id="263" name="加号 262"/>
            <p:cNvSpPr/>
            <p:nvPr/>
          </p:nvSpPr>
          <p:spPr>
            <a:xfrm>
              <a:off x="1539" y="3857"/>
              <a:ext cx="225" cy="201"/>
            </a:xfrm>
            <a:prstGeom prst="mathPlus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4" name="右箭头 263"/>
            <p:cNvSpPr/>
            <p:nvPr/>
          </p:nvSpPr>
          <p:spPr>
            <a:xfrm rot="5400000">
              <a:off x="1539" y="431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1" name="右箭头 30"/>
          <p:cNvSpPr/>
          <p:nvPr/>
        </p:nvSpPr>
        <p:spPr>
          <a:xfrm>
            <a:off x="3479800" y="591820"/>
            <a:ext cx="142875" cy="75565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37" name="组合 36"/>
          <p:cNvGrpSpPr/>
          <p:nvPr/>
        </p:nvGrpSpPr>
        <p:grpSpPr>
          <a:xfrm>
            <a:off x="45085" y="1553210"/>
            <a:ext cx="6728460" cy="1911985"/>
            <a:chOff x="121" y="11411"/>
            <a:chExt cx="10596" cy="3011"/>
          </a:xfrm>
        </p:grpSpPr>
        <p:sp>
          <p:nvSpPr>
            <p:cNvPr id="39" name="矩形 38"/>
            <p:cNvSpPr/>
            <p:nvPr/>
          </p:nvSpPr>
          <p:spPr>
            <a:xfrm>
              <a:off x="2899" y="11739"/>
              <a:ext cx="5027" cy="2387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252" y="11873"/>
              <a:ext cx="2098" cy="2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Input FASTA files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Choose sequenece type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codon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prot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nucl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--seqtype pseudogene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Choose alignment software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mafft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muscle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prank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--align-software clustalw2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Choose Trimming program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--trim-software trimAlnSeq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--trim-software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trimal  # -automated1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--notrim # Skip alignment trimming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grpSp>
          <p:nvGrpSpPr>
            <p:cNvPr id="63" name="组合 62"/>
            <p:cNvGrpSpPr/>
            <p:nvPr/>
          </p:nvGrpSpPr>
          <p:grpSpPr>
            <a:xfrm rot="0">
              <a:off x="2899" y="11739"/>
              <a:ext cx="1328" cy="738"/>
              <a:chOff x="2391" y="9036"/>
              <a:chExt cx="1328" cy="738"/>
            </a:xfrm>
          </p:grpSpPr>
          <p:sp>
            <p:nvSpPr>
              <p:cNvPr id="65" name="文本框 64"/>
              <p:cNvSpPr txBox="1"/>
              <p:nvPr/>
            </p:nvSpPr>
            <p:spPr>
              <a:xfrm>
                <a:off x="2391" y="9036"/>
                <a:ext cx="1328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1. Codon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66" name="文本框 65"/>
              <p:cNvSpPr txBox="1"/>
              <p:nvPr/>
            </p:nvSpPr>
            <p:spPr>
              <a:xfrm>
                <a:off x="2549" y="9244"/>
                <a:ext cx="1035" cy="530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CDS FASTA</a:t>
                </a:r>
                <a:b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</a:b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(Allowing stops) 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67" name="组合 66"/>
            <p:cNvGrpSpPr/>
            <p:nvPr/>
          </p:nvGrpSpPr>
          <p:grpSpPr>
            <a:xfrm rot="0">
              <a:off x="2899" y="12496"/>
              <a:ext cx="1461" cy="491"/>
              <a:chOff x="2391" y="9036"/>
              <a:chExt cx="1461" cy="491"/>
            </a:xfrm>
          </p:grpSpPr>
          <p:sp>
            <p:nvSpPr>
              <p:cNvPr id="68" name="文本框 67"/>
              <p:cNvSpPr txBox="1"/>
              <p:nvPr/>
            </p:nvSpPr>
            <p:spPr>
              <a:xfrm>
                <a:off x="2391" y="9036"/>
                <a:ext cx="1328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2. Protein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69" name="文本框 68"/>
              <p:cNvSpPr txBox="1"/>
              <p:nvPr/>
            </p:nvSpPr>
            <p:spPr>
              <a:xfrm>
                <a:off x="2549" y="9244"/>
                <a:ext cx="1303" cy="283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Protein FASTA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grpSp>
          <p:nvGrpSpPr>
            <p:cNvPr id="70" name="组合 69"/>
            <p:cNvGrpSpPr/>
            <p:nvPr/>
          </p:nvGrpSpPr>
          <p:grpSpPr>
            <a:xfrm rot="0">
              <a:off x="2899" y="12937"/>
              <a:ext cx="1460" cy="518"/>
              <a:chOff x="2391" y="8774"/>
              <a:chExt cx="1460" cy="518"/>
            </a:xfrm>
          </p:grpSpPr>
          <p:sp>
            <p:nvSpPr>
              <p:cNvPr id="71" name="文本框 70"/>
              <p:cNvSpPr txBox="1"/>
              <p:nvPr/>
            </p:nvSpPr>
            <p:spPr>
              <a:xfrm>
                <a:off x="2391" y="8774"/>
                <a:ext cx="1385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3. Nucleotide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76" name="文本框 75"/>
              <p:cNvSpPr txBox="1"/>
              <p:nvPr/>
            </p:nvSpPr>
            <p:spPr>
              <a:xfrm>
                <a:off x="2549" y="9009"/>
                <a:ext cx="1302" cy="283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Nucleotide FASTA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79" name="文本框 78"/>
            <p:cNvSpPr txBox="1"/>
            <p:nvPr/>
          </p:nvSpPr>
          <p:spPr>
            <a:xfrm>
              <a:off x="4403" y="11966"/>
              <a:ext cx="640" cy="53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Clean CDS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+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Translate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4958" y="13171"/>
              <a:ext cx="1035" cy="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958" y="12704"/>
              <a:ext cx="1035" cy="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725" y="12704"/>
              <a:ext cx="1035" cy="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protein alignments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6725" y="13172"/>
              <a:ext cx="1035" cy="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n</a:t>
              </a: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ucleotide alignments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5294" y="11966"/>
              <a:ext cx="673" cy="53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6227" y="11966"/>
              <a:ext cx="610" cy="53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Back-translate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7086" y="11966"/>
              <a:ext cx="673" cy="53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protein + codon alignments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98" name="右箭头 97"/>
            <p:cNvSpPr/>
            <p:nvPr/>
          </p:nvSpPr>
          <p:spPr>
            <a:xfrm>
              <a:off x="4133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9" name="右箭头 98"/>
            <p:cNvSpPr/>
            <p:nvPr/>
          </p:nvSpPr>
          <p:spPr>
            <a:xfrm>
              <a:off x="5060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0" name="右箭头 99"/>
            <p:cNvSpPr/>
            <p:nvPr/>
          </p:nvSpPr>
          <p:spPr>
            <a:xfrm>
              <a:off x="5979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1" name="右箭头 100"/>
            <p:cNvSpPr/>
            <p:nvPr/>
          </p:nvSpPr>
          <p:spPr>
            <a:xfrm>
              <a:off x="6861" y="12184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2" name="右箭头 101"/>
            <p:cNvSpPr/>
            <p:nvPr/>
          </p:nvSpPr>
          <p:spPr>
            <a:xfrm>
              <a:off x="4546" y="1278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3" name="右箭头 102"/>
            <p:cNvSpPr/>
            <p:nvPr/>
          </p:nvSpPr>
          <p:spPr>
            <a:xfrm>
              <a:off x="4546" y="1322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4" name="右箭头 103"/>
            <p:cNvSpPr/>
            <p:nvPr/>
          </p:nvSpPr>
          <p:spPr>
            <a:xfrm>
              <a:off x="6273" y="12785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5" name="右箭头 104"/>
            <p:cNvSpPr/>
            <p:nvPr/>
          </p:nvSpPr>
          <p:spPr>
            <a:xfrm>
              <a:off x="6273" y="1322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8307" y="11739"/>
              <a:ext cx="2098" cy="878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Output FASTA files</a:t>
              </a:r>
              <a:endPara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Codon alignment: *.codon.aln</a:t>
              </a:r>
              <a:endPara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Protein alignment: *.prot.aln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Nucleotide alignment: .nucl.aln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Trimmed alignment (optional): *.trimal.aln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pPr indent="0" algn="l" fontAlgn="auto">
                <a:lnSpc>
                  <a:spcPct val="120000"/>
                </a:lnSpc>
              </a:pP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07" name="右箭头 106"/>
            <p:cNvSpPr/>
            <p:nvPr/>
          </p:nvSpPr>
          <p:spPr>
            <a:xfrm>
              <a:off x="2481" y="12910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8" name="右箭头 107"/>
            <p:cNvSpPr/>
            <p:nvPr/>
          </p:nvSpPr>
          <p:spPr>
            <a:xfrm>
              <a:off x="7996" y="12303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9" name="文本框 108"/>
            <p:cNvSpPr txBox="1"/>
            <p:nvPr/>
          </p:nvSpPr>
          <p:spPr>
            <a:xfrm>
              <a:off x="121" y="11411"/>
              <a:ext cx="4100" cy="50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l"/>
              <a:r>
                <a:rPr lang="en-US" sz="1000" b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l"/>
              <a:r>
                <a:rPr lang="en-US" sz="500" b="1">
                  <a:latin typeface="Arial" panose="020B0604020202020204" pitchFamily="34" charset="0"/>
                  <a:cs typeface="Arial" panose="020B0604020202020204" pitchFamily="34" charset="0"/>
                </a:rPr>
                <a:t>Multiple sequence alignment pipeline</a:t>
              </a:r>
              <a:endParaRPr lang="en-US" sz="5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矩形 109"/>
            <p:cNvSpPr/>
            <p:nvPr/>
          </p:nvSpPr>
          <p:spPr>
            <a:xfrm>
              <a:off x="192" y="11450"/>
              <a:ext cx="10525" cy="2972"/>
            </a:xfrm>
            <a:prstGeom prst="rect">
              <a:avLst/>
            </a:prstGeom>
            <a:noFill/>
            <a:ln w="6350">
              <a:solidFill>
                <a:schemeClr val="bg1">
                  <a:lumMod val="85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>
                      <a:lumMod val="85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144" y="14156"/>
              <a:ext cx="4982" cy="265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 sz="5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MSAP.py | MSAP_batch.py</a:t>
              </a:r>
              <a:endParaRPr lang="en-US" altLang="zh-CN" sz="500">
                <a:solidFill>
                  <a:srgbClr val="0F5FBD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文本框 111"/>
            <p:cNvSpPr txBox="1"/>
            <p:nvPr/>
          </p:nvSpPr>
          <p:spPr>
            <a:xfrm>
              <a:off x="8307" y="13859"/>
              <a:ext cx="2098" cy="267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MSA Matrix Connecting to Downstream Scripts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13" name="右箭头 112"/>
            <p:cNvSpPr/>
            <p:nvPr/>
          </p:nvSpPr>
          <p:spPr>
            <a:xfrm rot="5400000">
              <a:off x="9244" y="1363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4" name="文本框 113"/>
            <p:cNvSpPr txBox="1"/>
            <p:nvPr/>
          </p:nvSpPr>
          <p:spPr>
            <a:xfrm>
              <a:off x="8307" y="13029"/>
              <a:ext cx="2098" cy="450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>
              <a:noAutofit/>
            </a:bodyPr>
            <a:p>
              <a:pPr indent="0" algn="l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Run </a:t>
              </a:r>
              <a:r>
                <a:rPr lang="en-US" altLang="zh-CN" sz="4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MSAP.py 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on multiple FASTA files concurrently with validated results and resume support by </a:t>
              </a:r>
              <a:r>
                <a:rPr lang="en-US" altLang="zh-CN" sz="400">
                  <a:solidFill>
                    <a:srgbClr val="0F5FBD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MSAP_batch.py script</a:t>
              </a: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.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15" name="右箭头 114"/>
            <p:cNvSpPr/>
            <p:nvPr/>
          </p:nvSpPr>
          <p:spPr>
            <a:xfrm rot="5400000">
              <a:off x="9244" y="12738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116" name="组合 115"/>
            <p:cNvGrpSpPr/>
            <p:nvPr/>
          </p:nvGrpSpPr>
          <p:grpSpPr>
            <a:xfrm rot="0">
              <a:off x="2899" y="13427"/>
              <a:ext cx="1459" cy="518"/>
              <a:chOff x="2391" y="8774"/>
              <a:chExt cx="1459" cy="518"/>
            </a:xfrm>
          </p:grpSpPr>
          <p:sp>
            <p:nvSpPr>
              <p:cNvPr id="117" name="文本框 116"/>
              <p:cNvSpPr txBox="1"/>
              <p:nvPr/>
            </p:nvSpPr>
            <p:spPr>
              <a:xfrm>
                <a:off x="2391" y="8774"/>
                <a:ext cx="1459" cy="28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indent="0" algn="l" fontAlgn="auto">
                  <a:lnSpc>
                    <a:spcPct val="120000"/>
                  </a:lnSpc>
                </a:pPr>
                <a:r>
                  <a:rPr lang="en-US" altLang="zh-CN" sz="5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4. pseudogene workfow</a:t>
                </a:r>
                <a:endParaRPr lang="en-US" altLang="zh-CN" sz="5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118" name="文本框 117"/>
              <p:cNvSpPr txBox="1"/>
              <p:nvPr/>
            </p:nvSpPr>
            <p:spPr>
              <a:xfrm>
                <a:off x="2549" y="9009"/>
                <a:ext cx="1300" cy="283"/>
              </a:xfrm>
              <a:prstGeom prst="rect">
                <a:avLst/>
              </a:prstGeom>
              <a:solidFill>
                <a:srgbClr val="F8FAFC"/>
              </a:solidFill>
            </p:spPr>
            <p:txBody>
              <a:bodyPr wrap="square" rtlCol="0" anchor="ctr" anchorCtr="0">
                <a:noAutofit/>
              </a:bodyPr>
              <a:p>
                <a:pPr indent="0" algn="ctr" fontAlgn="auto">
                  <a:lnSpc>
                    <a:spcPct val="120000"/>
                  </a:lnSpc>
                </a:pP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CDS FASTA</a:t>
                </a:r>
                <a:b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</a:br>
                <a:r>
                  <a:rPr lang="en-US" altLang="zh-CN" sz="4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(Allowing frameshifts/stops) </a:t>
                </a:r>
                <a:endPara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119" name="文本框 118"/>
            <p:cNvSpPr txBox="1"/>
            <p:nvPr/>
          </p:nvSpPr>
          <p:spPr>
            <a:xfrm>
              <a:off x="4957" y="13661"/>
              <a:ext cx="1036" cy="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Sequence Align by macse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20" name="文本框 119"/>
            <p:cNvSpPr txBox="1"/>
            <p:nvPr/>
          </p:nvSpPr>
          <p:spPr>
            <a:xfrm>
              <a:off x="6725" y="13662"/>
              <a:ext cx="1035" cy="283"/>
            </a:xfrm>
            <a:prstGeom prst="rect">
              <a:avLst/>
            </a:prstGeom>
            <a:solidFill>
              <a:srgbClr val="F8FAFC"/>
            </a:solidFill>
          </p:spPr>
          <p:txBody>
            <a:bodyPr wrap="square" rtlCol="0" anchor="ctr" anchorCtr="0">
              <a:noAutofit/>
            </a:bodyPr>
            <a:p>
              <a:pPr indent="0" algn="ctr" fontAlgn="auto">
                <a:lnSpc>
                  <a:spcPct val="120000"/>
                </a:lnSpc>
              </a:pPr>
              <a:r>
                <a:rPr lang="en-US" altLang="zh-CN" sz="4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Trim protein + codon alignments</a:t>
              </a:r>
              <a:endPara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121" name="右箭头 120"/>
            <p:cNvSpPr/>
            <p:nvPr/>
          </p:nvSpPr>
          <p:spPr>
            <a:xfrm>
              <a:off x="4546" y="1371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2" name="右箭头 121"/>
            <p:cNvSpPr/>
            <p:nvPr/>
          </p:nvSpPr>
          <p:spPr>
            <a:xfrm>
              <a:off x="6273" y="13716"/>
              <a:ext cx="225" cy="119"/>
            </a:xfrm>
            <a:prstGeom prst="rightArrow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24" name="文本框 123"/>
          <p:cNvSpPr txBox="1"/>
          <p:nvPr/>
        </p:nvSpPr>
        <p:spPr>
          <a:xfrm>
            <a:off x="3691890" y="346075"/>
            <a:ext cx="2255520" cy="909320"/>
          </a:xfrm>
          <a:prstGeom prst="rect">
            <a:avLst/>
          </a:prstGeom>
          <a:solidFill>
            <a:srgbClr val="F8FAFC"/>
          </a:solidFill>
        </p:spPr>
        <p:txBody>
          <a:bodyPr wrap="square" rtlCol="0">
            <a:noAutofit/>
          </a:bodyPr>
          <a:p>
            <a:pPr algn="l" fontAlgn="auto">
              <a:lnSpc>
                <a:spcPct val="120000"/>
              </a:lnSpc>
              <a:buClrTx/>
              <a:buSzTx/>
              <a:buFontTx/>
            </a:pPr>
            <a:r>
              <a:rPr lang="en-US" altLang="zh-CN" sz="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Copy-mode examples (output FASTA files)</a:t>
            </a:r>
            <a:endParaRPr lang="zh-CN" altLang="en-US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algn="l" fontAlgn="auto">
              <a:lnSpc>
                <a:spcPct val="120000"/>
              </a:lnSpc>
              <a:buClrTx/>
              <a:buSzTx/>
              <a:buFontTx/>
            </a:pP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--copy-mode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single-copy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--min-taxa 6                              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--copy-mode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all-copies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--min-taxa 6         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OG0000000.fasta                                                               OG0000000.fasta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OG0000002.fasta                                                               OG0000002.fasta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                                                                                       OG0000003.fasta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                           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--copy-mode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single-copy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--min-taxa 5  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                        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--copy-mode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all-copies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--min-taxa 5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OG0000000.fasta                                                               OG0000000.fasta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OG0000002.fasta                                                               OG0000002.fasta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OG0000004.fasta </a:t>
            </a: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                                                          OG0000003.fasta</a:t>
            </a:r>
            <a:endParaRPr lang="en-US" altLang="zh-CN" sz="40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indent="0" algn="l" fontAlgn="auto">
              <a:lnSpc>
                <a:spcPct val="120000"/>
              </a:lnSpc>
            </a:pPr>
            <a:r>
              <a:rPr lang="en-US" altLang="zh-CN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                                                                                           OG0000004.fasta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984250" y="1108075"/>
            <a:ext cx="2407920" cy="174625"/>
          </a:xfrm>
          <a:prstGeom prst="rect">
            <a:avLst/>
          </a:prstGeom>
          <a:solidFill>
            <a:srgbClr val="F8FAFC"/>
          </a:solidFill>
        </p:spPr>
        <p:txBody>
          <a:bodyPr wrap="square" rtlCol="0" anchor="ctr" anchorCtr="0">
            <a:noAutofit/>
          </a:bodyPr>
          <a:p>
            <a:pPr indent="0" algn="l" fontAlgn="auto">
              <a:lnSpc>
                <a:spcPct val="120000"/>
              </a:lnSpc>
            </a:pPr>
            <a:r>
              <a:rPr lang="en-US" altLang="zh-CN" sz="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Format conversion: </a:t>
            </a: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OrthoMCL </a:t>
            </a:r>
            <a:r>
              <a:rPr lang="zh-CN" altLang="en-US" sz="40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、</a:t>
            </a: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OMA</a:t>
            </a:r>
            <a:r>
              <a:rPr lang="zh-CN" altLang="en-US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、</a:t>
            </a: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ProteinOrtho</a:t>
            </a:r>
            <a:r>
              <a:rPr lang="zh-CN" altLang="en-US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、</a:t>
            </a:r>
            <a:r>
              <a:rPr lang="en-US" altLang="zh-CN" sz="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SonicParanoid  to  OrthoFinder</a:t>
            </a:r>
            <a:endParaRPr lang="en-US" altLang="zh-CN" sz="4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29" name="右箭头 128"/>
          <p:cNvSpPr/>
          <p:nvPr/>
        </p:nvSpPr>
        <p:spPr>
          <a:xfrm rot="16200000">
            <a:off x="1576705" y="988060"/>
            <a:ext cx="86995" cy="76200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8013</Words>
  <Application>WPS 演示</Application>
  <PresentationFormat>宽屏</PresentationFormat>
  <Paragraphs>314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Arial</vt:lpstr>
      <vt:lpstr>宋体</vt:lpstr>
      <vt:lpstr>Wingdings</vt:lpstr>
      <vt:lpstr>Liberation Mono</vt:lpstr>
      <vt:lpstr>Ubuntu Mono</vt:lpstr>
      <vt:lpstr>微软雅黑</vt:lpstr>
      <vt:lpstr>Arial Unicode MS</vt:lpstr>
      <vt:lpstr>宋体</vt:lpstr>
      <vt:lpstr>Calibri Light</vt:lpstr>
      <vt:lpstr>Calibri</vt:lpstr>
      <vt:lpstr>Trebuchet MS</vt:lpstr>
      <vt:lpstr>OpenSymbol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chenguisen</cp:lastModifiedBy>
  <cp:revision>78</cp:revision>
  <dcterms:created xsi:type="dcterms:W3CDTF">2026-10-01T09:21:08Z</dcterms:created>
  <dcterms:modified xsi:type="dcterms:W3CDTF">2026-10-01T09:21:08Z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2052-12.1.0.17885</vt:lpwstr>
  </property>
  <property fmtid="{D5CDD505-2E9C-101B-9397-08002B2CF9AE}" pid="3" name="ICV">
    <vt:lpwstr>9B30FC3A67990A859E21BE6A71E4C934_43</vt:lpwstr>
  </property>
</Properties>
</file>